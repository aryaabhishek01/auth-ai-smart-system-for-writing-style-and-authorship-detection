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69" r:id="rId4"/>
    <p:sldId id="274" r:id="rId5"/>
    <p:sldId id="285" r:id="rId6"/>
    <p:sldId id="273" r:id="rId7"/>
    <p:sldId id="290" r:id="rId8"/>
    <p:sldId id="291" r:id="rId9"/>
    <p:sldId id="286" r:id="rId10"/>
    <p:sldId id="280" r:id="rId11"/>
    <p:sldId id="281" r:id="rId12"/>
    <p:sldId id="292" r:id="rId13"/>
    <p:sldId id="289" r:id="rId14"/>
    <p:sldId id="287" r:id="rId15"/>
    <p:sldId id="288" r:id="rId16"/>
    <p:sldId id="270" r:id="rId17"/>
    <p:sldId id="265" r:id="rId18"/>
    <p:sldId id="283" r:id="rId19"/>
    <p:sldId id="284"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614C128-0038-BA90-A283-8814F8A8199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E2C1BC8-057C-1661-54AA-FC18150C8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042CF48-42FA-7DD7-D602-A2F5058E67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6444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BCF0BDF-0934-443D-D0DA-6B518C25F4F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AACD217-E671-7C6D-8020-EA7B5C75D4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9DFD0C0-DA5F-F394-43D1-CA5492EA38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4729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D59AFB05-3603-A223-96D9-A87B51B8E24A}"/>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D0C2F326-C2E7-7321-F56D-E0C3C30CB4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5827AE1A-5A9A-B43A-C9F3-CAEC8715AE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4882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7A33BEDA-B54D-E61D-F9B0-F641914AD37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8F0DE529-7FD7-DCCE-4ED4-854F6235AE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4BBC72C-3644-8059-92B2-47F3C342D8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64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CE2695A-4754-898F-ED93-23BE16FC6B1E}"/>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DCBD6488-611A-5303-D721-3E25593193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2427627-B396-6EE7-9B08-04E1D16E8A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7857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354BDE5-B1CA-ADB0-7FBE-84C16172F60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B0D12EE6-2D97-7212-9586-8B562B44EC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B27D18E5-00DA-E68D-72A4-46F26DAF4C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820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43F9151-06F9-D94E-B8C0-77719965ECC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E3A98BD-0E65-4B84-FC51-F98AE8F771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7F1DD57-3FB5-7808-B429-BF369CBA24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3250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A178A8F-D282-7840-A736-5CA545B5653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B01D1199-C211-16EB-2799-90E4010FAA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80FA877-E20B-55AA-27D5-09433753F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7044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B743337-2616-F216-89C7-6F338BC8C01A}"/>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05640BB-2642-A4AC-061D-BBF3EB6EE6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A0ADB91-CE22-BCA5-DA8E-28F50D7EB4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30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D5CE9793-E6ED-96E6-6F00-EF9797C95C1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4FCBD07-EF78-CE27-DCCE-6A6907FD76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D2F825D-53DE-8CFE-F807-E866325AC4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6129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7261702-D36E-35F8-E096-FFA27F2876B5}"/>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96C6AB82-2E48-F6A9-55C3-43663B6553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0B03A1ED-BF47-FAC7-D4E0-B6C9E66C9E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2265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677C710-8AF2-465A-02A9-D7B0CDBC097A}"/>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72D04EFC-EC05-6090-D87E-FF128A5974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610F875D-8076-0D72-2AB0-E20DBC83ED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2758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US" sz="2400" dirty="0">
                <a:latin typeface="Cambria" panose="02040503050406030204" pitchFamily="18" charset="0"/>
                <a:ea typeface="Cambria" panose="02040503050406030204" pitchFamily="18" charset="0"/>
              </a:rPr>
              <a:t>Student Innovation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CSG_1</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97652"/>
            <a:ext cx="5514300" cy="193624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Riya Sanjesh</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857885212"/>
              </p:ext>
            </p:extLst>
          </p:nvPr>
        </p:nvGraphicFramePr>
        <p:xfrm>
          <a:off x="553347" y="2597652"/>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23571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89285">
                <a:tc>
                  <a:txBody>
                    <a:bodyPr/>
                    <a:lstStyle/>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20221CSG0089</a:t>
                      </a:r>
                    </a:p>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20221CSG0069</a:t>
                      </a:r>
                    </a:p>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20221CSG0113</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Arya Abhishek</a:t>
                      </a:r>
                    </a:p>
                    <a:p>
                      <a:pPr marL="0" marR="0" lvl="0" indent="0" algn="ctr" rtl="0">
                        <a:spcBef>
                          <a:spcPts val="0"/>
                        </a:spcBef>
                        <a:spcAft>
                          <a:spcPts val="0"/>
                        </a:spcAft>
                        <a:buNone/>
                      </a:pPr>
                      <a:r>
                        <a:rPr lang="en-US" sz="1800" u="none" strike="noStrike" cap="none" dirty="0"/>
                        <a:t>Sri Sai Raghuveer C</a:t>
                      </a:r>
                    </a:p>
                    <a:p>
                      <a:pPr marL="0" marR="0" lvl="0" indent="0" algn="ctr" rtl="0">
                        <a:spcBef>
                          <a:spcPts val="0"/>
                        </a:spcBef>
                        <a:spcAft>
                          <a:spcPts val="0"/>
                        </a:spcAft>
                        <a:buNone/>
                      </a:pPr>
                      <a:r>
                        <a:rPr lang="en-US" sz="1800" u="none" strike="noStrike" cap="none" dirty="0"/>
                        <a:t>Archana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3571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CSG – Computer Science And Technology</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Sharmasth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Vali</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4619217"/>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sz="1400" b="1"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Abstract</a:t>
            </a:r>
            <a:endParaRPr lang="en-US" sz="1400" b="1"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System Design</a:t>
            </a:r>
            <a:endParaRPr lang="en-US" sz="1400"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Architecture Diagram</a:t>
            </a:r>
          </a:p>
          <a:p>
            <a:pPr marL="495300" lvl="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Algorithm</a:t>
            </a:r>
          </a:p>
          <a:p>
            <a:pPr marL="495300" lvl="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Modules</a:t>
            </a:r>
          </a:p>
          <a:p>
            <a:pPr marL="495300" lvl="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Timeline (Gantt Chart)</a:t>
            </a:r>
          </a:p>
          <a:p>
            <a:pPr marL="495300" lvl="0" indent="-342900" algn="just">
              <a:lnSpc>
                <a:spcPct val="200000"/>
              </a:lnSpc>
              <a:spcBef>
                <a:spcPts val="0"/>
              </a:spcBef>
              <a:buFont typeface="Arial" panose="020B0604020202020204" pitchFamily="34" charset="0"/>
              <a:buChar char="•"/>
            </a:pPr>
            <a:r>
              <a:rPr lang="en-IN" sz="1400" b="1" dirty="0">
                <a:latin typeface="Cambria" panose="02040503050406030204" pitchFamily="18" charset="0"/>
                <a:ea typeface="Cambria" panose="02040503050406030204" pitchFamily="18" charset="0"/>
              </a:rPr>
              <a:t>References</a:t>
            </a:r>
            <a:endParaRPr lang="en-US" sz="1400" b="1"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400" b="1"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400" b="1"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PCS_154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dirty="0">
                <a:latin typeface="Cambria" panose="02040503050406030204" pitchFamily="18" charset="0"/>
                <a:ea typeface="Cambria" panose="02040503050406030204" pitchFamily="18" charset="0"/>
              </a:rPr>
              <a:t>Organization: </a:t>
            </a:r>
            <a:r>
              <a:rPr lang="en-IN" dirty="0">
                <a:latin typeface="Cambria" panose="02040503050406030204" pitchFamily="18" charset="0"/>
                <a:ea typeface="Cambria" panose="02040503050406030204" pitchFamily="18" charset="0"/>
              </a:rPr>
              <a:t>AICTE, MIC Student Innovation</a:t>
            </a:r>
            <a:endParaRPr lang="en-US" dirty="0">
              <a:latin typeface="Cambria" panose="02040503050406030204" pitchFamily="18" charset="0"/>
              <a:ea typeface="Cambria" panose="02040503050406030204" pitchFamily="18" charset="0"/>
            </a:endParaRPr>
          </a:p>
          <a:p>
            <a:pPr marL="76200" indent="0">
              <a:buNone/>
            </a:pP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Category (Hardware / Software / Both) : Software</a:t>
            </a:r>
          </a:p>
          <a:p>
            <a:pPr marL="76200" indent="0">
              <a:buNone/>
            </a:pPr>
            <a:endParaRPr lang="en-US" dirty="0">
              <a:latin typeface="Cambria" panose="02040503050406030204" pitchFamily="18" charset="0"/>
              <a:ea typeface="Cambria" panose="02040503050406030204" pitchFamily="18" charset="0"/>
            </a:endParaRPr>
          </a:p>
          <a:p>
            <a:pPr marL="76200" indent="0" algn="just">
              <a:buNone/>
            </a:pPr>
            <a:r>
              <a:rPr lang="en-US" dirty="0">
                <a:latin typeface="Cambria" panose="02040503050406030204" pitchFamily="18" charset="0"/>
                <a:ea typeface="Cambria" panose="02040503050406030204" pitchFamily="18" charset="0"/>
              </a:rPr>
              <a:t>Problem Description:</a:t>
            </a:r>
          </a:p>
          <a:p>
            <a:pPr marL="76200" indent="0" algn="just">
              <a:buNone/>
            </a:pPr>
            <a:r>
              <a:rPr lang="en-US" dirty="0">
                <a:latin typeface="Cambria" panose="02040503050406030204" pitchFamily="18" charset="0"/>
                <a:ea typeface="Cambria" panose="02040503050406030204" pitchFamily="18" charset="0"/>
              </a:rPr>
              <a:t>The problem of style change detection, also called style breach detection, is to identify if a document was written by one or multiple authors . It involves identifying the specific positions within a text where the author's writing style changes.</a:t>
            </a: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Problem Statement</a:t>
            </a: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152400" indent="0" algn="just">
              <a:lnSpc>
                <a:spcPct val="200000"/>
              </a:lnSpc>
              <a:spcBef>
                <a:spcPts val="0"/>
              </a:spcBef>
              <a:buNone/>
            </a:pPr>
            <a:r>
              <a:rPr lang="en-US" dirty="0">
                <a:latin typeface="Cambria" panose="02040503050406030204" pitchFamily="18" charset="0"/>
                <a:ea typeface="Cambria" panose="02040503050406030204" pitchFamily="18" charset="0"/>
              </a:rPr>
              <a:t>The problem statement for style change detection is to determine if a document was written by a single author or multiple authors. The task is to identify the exact locations within a multi-author document where the authorship, or writing style, switches. This field of study is also known as style breach detection and is related to intrinsic plagiarism detection. The core challenges of this problem are that no information about the author is provided, there are no external reference documents for comparison, and the analysis must be performed on the document itself to extract stylistic features</a:t>
            </a:r>
          </a:p>
          <a:p>
            <a:pPr marL="152400" lvl="0" indent="0" algn="just" rtl="0">
              <a:lnSpc>
                <a:spcPct val="200000"/>
              </a:lnSpc>
              <a:spcBef>
                <a:spcPts val="0"/>
              </a:spcBef>
              <a:spcAft>
                <a:spcPts val="0"/>
              </a:spcAft>
              <a:buClr>
                <a:schemeClr val="dk1"/>
              </a:buClr>
              <a:buSzPts val="2400"/>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2D0DCDF-AA66-0A0A-43E8-0AB93929B9BA}"/>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2278153-2014-8EC0-A4DC-CFA83FE598B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Abstract</a:t>
            </a:r>
          </a:p>
        </p:txBody>
      </p:sp>
      <p:sp>
        <p:nvSpPr>
          <p:cNvPr id="97" name="Google Shape;97;p14">
            <a:extLst>
              <a:ext uri="{FF2B5EF4-FFF2-40B4-BE49-F238E27FC236}">
                <a16:creationId xmlns:a16="http://schemas.microsoft.com/office/drawing/2014/main" id="{4C1803E7-B87B-90F0-0E27-5567621746AE}"/>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92500" lnSpcReduction="10000"/>
          </a:bodyPr>
          <a:lstStyle/>
          <a:p>
            <a:pPr marL="152400" indent="0" algn="just">
              <a:lnSpc>
                <a:spcPct val="200000"/>
              </a:lnSpc>
              <a:spcBef>
                <a:spcPts val="0"/>
              </a:spcBef>
              <a:buNone/>
            </a:pPr>
            <a:r>
              <a:rPr lang="en-US" dirty="0">
                <a:latin typeface="Cambria" panose="02040503050406030204" pitchFamily="18" charset="0"/>
                <a:ea typeface="Cambria" panose="02040503050406030204" pitchFamily="18" charset="0"/>
              </a:rPr>
              <a:t>The problem is to determine if a document was written by a single author or multiple authors. This is also known as style breach detection. The objective is to identify the specific positions within a document where the writing style, and thus the author, changes. The approach to solving this is to use a Multi-Stylometric Feature-based Neural Network that performs an intrinsic analysis of the document, without requiring external reference material.</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1518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IN" dirty="0">
                <a:latin typeface="Cambria" panose="0204050305040603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p:txBody>
      </p:sp>
      <p:graphicFrame>
        <p:nvGraphicFramePr>
          <p:cNvPr id="3" name="Object 2">
            <a:extLst>
              <a:ext uri="{FF2B5EF4-FFF2-40B4-BE49-F238E27FC236}">
                <a16:creationId xmlns:a16="http://schemas.microsoft.com/office/drawing/2014/main" id="{AF05988E-39C1-3AB8-7A8F-8D977BED4FE5}"/>
              </a:ext>
            </a:extLst>
          </p:cNvPr>
          <p:cNvGraphicFramePr>
            <a:graphicFrameLocks noChangeAspect="1"/>
          </p:cNvGraphicFramePr>
          <p:nvPr>
            <p:extLst>
              <p:ext uri="{D42A27DB-BD31-4B8C-83A1-F6EECF244321}">
                <p14:modId xmlns:p14="http://schemas.microsoft.com/office/powerpoint/2010/main" val="3853418629"/>
              </p:ext>
            </p:extLst>
          </p:nvPr>
        </p:nvGraphicFramePr>
        <p:xfrm>
          <a:off x="5481638" y="3241675"/>
          <a:ext cx="1227137" cy="373063"/>
        </p:xfrm>
        <a:graphic>
          <a:graphicData uri="http://schemas.openxmlformats.org/presentationml/2006/ole">
            <mc:AlternateContent xmlns:mc="http://schemas.openxmlformats.org/markup-compatibility/2006">
              <mc:Choice xmlns:v="urn:schemas-microsoft-com:vml" Requires="v">
                <p:oleObj name="Worksheet" r:id="rId3" imgW="1226997" imgH="373301" progId="Excel.Sheet.12">
                  <p:embed/>
                </p:oleObj>
              </mc:Choice>
              <mc:Fallback>
                <p:oleObj name="Worksheet" r:id="rId3" imgW="1226997" imgH="373301" progId="Excel.Sheet.12">
                  <p:embed/>
                  <p:pic>
                    <p:nvPicPr>
                      <p:cNvPr id="0" name=""/>
                      <p:cNvPicPr/>
                      <p:nvPr/>
                    </p:nvPicPr>
                    <p:blipFill>
                      <a:blip r:embed="rId4"/>
                      <a:stretch>
                        <a:fillRect/>
                      </a:stretch>
                    </p:blipFill>
                    <p:spPr>
                      <a:xfrm>
                        <a:off x="5481638" y="3241675"/>
                        <a:ext cx="1227137" cy="373063"/>
                      </a:xfrm>
                      <a:prstGeom prst="rect">
                        <a:avLst/>
                      </a:prstGeom>
                    </p:spPr>
                  </p:pic>
                </p:oleObj>
              </mc:Fallback>
            </mc:AlternateContent>
          </a:graphicData>
        </a:graphic>
      </p:graphicFrame>
      <p:graphicFrame>
        <p:nvGraphicFramePr>
          <p:cNvPr id="4" name="Table 3">
            <a:extLst>
              <a:ext uri="{FF2B5EF4-FFF2-40B4-BE49-F238E27FC236}">
                <a16:creationId xmlns:a16="http://schemas.microsoft.com/office/drawing/2014/main" id="{9917902B-017B-814D-D16A-37C86761D0B9}"/>
              </a:ext>
            </a:extLst>
          </p:cNvPr>
          <p:cNvGraphicFramePr>
            <a:graphicFrameLocks noGrp="1"/>
          </p:cNvGraphicFramePr>
          <p:nvPr>
            <p:extLst>
              <p:ext uri="{D42A27DB-BD31-4B8C-83A1-F6EECF244321}">
                <p14:modId xmlns:p14="http://schemas.microsoft.com/office/powerpoint/2010/main" val="2136176196"/>
              </p:ext>
            </p:extLst>
          </p:nvPr>
        </p:nvGraphicFramePr>
        <p:xfrm>
          <a:off x="812799" y="924910"/>
          <a:ext cx="10927255" cy="5954051"/>
        </p:xfrm>
        <a:graphic>
          <a:graphicData uri="http://schemas.openxmlformats.org/drawingml/2006/table">
            <a:tbl>
              <a:tblPr firstRow="1" bandRow="1"/>
              <a:tblGrid>
                <a:gridCol w="2095497">
                  <a:extLst>
                    <a:ext uri="{9D8B030D-6E8A-4147-A177-3AD203B41FA5}">
                      <a16:colId xmlns:a16="http://schemas.microsoft.com/office/drawing/2014/main" val="4131583704"/>
                    </a:ext>
                  </a:extLst>
                </a:gridCol>
                <a:gridCol w="554031">
                  <a:extLst>
                    <a:ext uri="{9D8B030D-6E8A-4147-A177-3AD203B41FA5}">
                      <a16:colId xmlns:a16="http://schemas.microsoft.com/office/drawing/2014/main" val="3121669905"/>
                    </a:ext>
                  </a:extLst>
                </a:gridCol>
                <a:gridCol w="1561912">
                  <a:extLst>
                    <a:ext uri="{9D8B030D-6E8A-4147-A177-3AD203B41FA5}">
                      <a16:colId xmlns:a16="http://schemas.microsoft.com/office/drawing/2014/main" val="1823133742"/>
                    </a:ext>
                  </a:extLst>
                </a:gridCol>
                <a:gridCol w="1594623">
                  <a:extLst>
                    <a:ext uri="{9D8B030D-6E8A-4147-A177-3AD203B41FA5}">
                      <a16:colId xmlns:a16="http://schemas.microsoft.com/office/drawing/2014/main" val="2503470029"/>
                    </a:ext>
                  </a:extLst>
                </a:gridCol>
                <a:gridCol w="5121192">
                  <a:extLst>
                    <a:ext uri="{9D8B030D-6E8A-4147-A177-3AD203B41FA5}">
                      <a16:colId xmlns:a16="http://schemas.microsoft.com/office/drawing/2014/main" val="838767891"/>
                    </a:ext>
                  </a:extLst>
                </a:gridCol>
              </a:tblGrid>
              <a:tr h="247771">
                <a:tc>
                  <a:txBody>
                    <a:bodyPr/>
                    <a:lstStyle/>
                    <a:p>
                      <a:pPr>
                        <a:buNone/>
                      </a:pPr>
                      <a:r>
                        <a:rPr lang="en-IN" sz="1000" dirty="0"/>
                        <a:t>Title</a:t>
                      </a:r>
                    </a:p>
                  </a:txBody>
                  <a:tcPr anchor="ctr"/>
                </a:tc>
                <a:tc>
                  <a:txBody>
                    <a:bodyPr/>
                    <a:lstStyle/>
                    <a:p>
                      <a:pPr>
                        <a:buNone/>
                      </a:pPr>
                      <a:r>
                        <a:rPr lang="en-IN" sz="1000"/>
                        <a:t>Year</a:t>
                      </a:r>
                    </a:p>
                  </a:txBody>
                  <a:tcPr anchor="ctr"/>
                </a:tc>
                <a:tc>
                  <a:txBody>
                    <a:bodyPr/>
                    <a:lstStyle/>
                    <a:p>
                      <a:pPr>
                        <a:buNone/>
                      </a:pPr>
                      <a:r>
                        <a:rPr lang="en-IN" sz="1000"/>
                        <a:t>Author</a:t>
                      </a:r>
                    </a:p>
                  </a:txBody>
                  <a:tcPr anchor="ctr"/>
                </a:tc>
                <a:tc>
                  <a:txBody>
                    <a:bodyPr/>
                    <a:lstStyle/>
                    <a:p>
                      <a:pPr>
                        <a:buNone/>
                      </a:pPr>
                      <a:r>
                        <a:rPr lang="en-IN" sz="1000"/>
                        <a:t>Method</a:t>
                      </a:r>
                    </a:p>
                  </a:txBody>
                  <a:tcPr anchor="ctr"/>
                </a:tc>
                <a:tc>
                  <a:txBody>
                    <a:bodyPr/>
                    <a:lstStyle/>
                    <a:p>
                      <a:pPr>
                        <a:buNone/>
                      </a:pPr>
                      <a:r>
                        <a:rPr lang="en-IN" sz="1000" dirty="0"/>
                        <a:t>Drawback</a:t>
                      </a:r>
                    </a:p>
                  </a:txBody>
                  <a:tcPr anchor="ctr"/>
                </a:tc>
                <a:extLst>
                  <a:ext uri="{0D108BD9-81ED-4DB2-BD59-A6C34878D82A}">
                    <a16:rowId xmlns:a16="http://schemas.microsoft.com/office/drawing/2014/main" val="3384322058"/>
                  </a:ext>
                </a:extLst>
              </a:tr>
              <a:tr h="402627">
                <a:tc>
                  <a:txBody>
                    <a:bodyPr/>
                    <a:lstStyle/>
                    <a:p>
                      <a:pPr>
                        <a:buNone/>
                      </a:pPr>
                      <a:r>
                        <a:rPr lang="en-US" sz="1000"/>
                        <a:t>Ensemble-Based Clustering in Writing Style Change Detection</a:t>
                      </a:r>
                    </a:p>
                  </a:txBody>
                  <a:tcPr anchor="ctr"/>
                </a:tc>
                <a:tc>
                  <a:txBody>
                    <a:bodyPr/>
                    <a:lstStyle/>
                    <a:p>
                      <a:pPr>
                        <a:buNone/>
                      </a:pPr>
                      <a:r>
                        <a:rPr lang="en-IN" sz="1000"/>
                        <a:t>2022</a:t>
                      </a:r>
                    </a:p>
                  </a:txBody>
                  <a:tcPr anchor="ctr"/>
                </a:tc>
                <a:tc>
                  <a:txBody>
                    <a:bodyPr/>
                    <a:lstStyle/>
                    <a:p>
                      <a:pPr>
                        <a:buNone/>
                      </a:pPr>
                      <a:r>
                        <a:rPr lang="en-IN" sz="1000"/>
                        <a:t>S. Ashkarsaj &amp; M. Mersin</a:t>
                      </a:r>
                    </a:p>
                  </a:txBody>
                  <a:tcPr anchor="ctr"/>
                </a:tc>
                <a:tc>
                  <a:txBody>
                    <a:bodyPr/>
                    <a:lstStyle/>
                    <a:p>
                      <a:pPr>
                        <a:buNone/>
                      </a:pPr>
                      <a:r>
                        <a:rPr lang="en-IN" sz="1000"/>
                        <a:t>Ensemble-Based Clustering</a:t>
                      </a:r>
                    </a:p>
                  </a:txBody>
                  <a:tcPr anchor="ctr"/>
                </a:tc>
                <a:tc>
                  <a:txBody>
                    <a:bodyPr/>
                    <a:lstStyle/>
                    <a:p>
                      <a:pPr>
                        <a:buNone/>
                      </a:pPr>
                      <a:r>
                        <a:rPr lang="en-US" sz="1000" b="1"/>
                        <a:t>High computational cost</a:t>
                      </a:r>
                      <a:r>
                        <a:rPr lang="en-US" sz="1000"/>
                        <a:t> and complexity from running and combining multiple clustering models.</a:t>
                      </a:r>
                    </a:p>
                  </a:txBody>
                  <a:tcPr anchor="ctr"/>
                </a:tc>
                <a:extLst>
                  <a:ext uri="{0D108BD9-81ED-4DB2-BD59-A6C34878D82A}">
                    <a16:rowId xmlns:a16="http://schemas.microsoft.com/office/drawing/2014/main" val="301699100"/>
                  </a:ext>
                </a:extLst>
              </a:tr>
              <a:tr h="402627">
                <a:tc>
                  <a:txBody>
                    <a:bodyPr/>
                    <a:lstStyle/>
                    <a:p>
                      <a:pPr>
                        <a:buNone/>
                      </a:pPr>
                      <a:r>
                        <a:rPr lang="en-US" sz="1000"/>
                        <a:t>Style Change Detection Based On Bert And Covid-19</a:t>
                      </a:r>
                    </a:p>
                  </a:txBody>
                  <a:tcPr anchor="ctr"/>
                </a:tc>
                <a:tc>
                  <a:txBody>
                    <a:bodyPr/>
                    <a:lstStyle/>
                    <a:p>
                      <a:pPr>
                        <a:buNone/>
                      </a:pPr>
                      <a:r>
                        <a:rPr lang="en-IN" sz="1000" dirty="0"/>
                        <a:t>2022</a:t>
                      </a:r>
                    </a:p>
                  </a:txBody>
                  <a:tcPr anchor="ctr"/>
                </a:tc>
                <a:tc>
                  <a:txBody>
                    <a:bodyPr/>
                    <a:lstStyle/>
                    <a:p>
                      <a:pPr>
                        <a:buNone/>
                      </a:pPr>
                      <a:r>
                        <a:rPr lang="en-IN" sz="1000" dirty="0"/>
                        <a:t>C. Liu et al.</a:t>
                      </a:r>
                    </a:p>
                  </a:txBody>
                  <a:tcPr anchor="ctr"/>
                </a:tc>
                <a:tc>
                  <a:txBody>
                    <a:bodyPr/>
                    <a:lstStyle/>
                    <a:p>
                      <a:pPr>
                        <a:buNone/>
                      </a:pPr>
                      <a:r>
                        <a:rPr lang="en-IN" sz="1000" dirty="0"/>
                        <a:t>BERT-based models</a:t>
                      </a:r>
                    </a:p>
                  </a:txBody>
                  <a:tcPr anchor="ctr"/>
                </a:tc>
                <a:tc>
                  <a:txBody>
                    <a:bodyPr/>
                    <a:lstStyle/>
                    <a:p>
                      <a:pPr>
                        <a:buNone/>
                      </a:pPr>
                      <a:r>
                        <a:rPr lang="en-US" sz="1000" b="1"/>
                        <a:t>Limited generalizability</a:t>
                      </a:r>
                      <a:r>
                        <a:rPr lang="en-US" sz="1000"/>
                        <a:t>, as the model's fine-tuning on a specific domain (COVID-19) may not transfer well to other topics.</a:t>
                      </a:r>
                    </a:p>
                  </a:txBody>
                  <a:tcPr anchor="ctr"/>
                </a:tc>
                <a:extLst>
                  <a:ext uri="{0D108BD9-81ED-4DB2-BD59-A6C34878D82A}">
                    <a16:rowId xmlns:a16="http://schemas.microsoft.com/office/drawing/2014/main" val="368081887"/>
                  </a:ext>
                </a:extLst>
              </a:tr>
              <a:tr h="557484">
                <a:tc>
                  <a:txBody>
                    <a:bodyPr/>
                    <a:lstStyle/>
                    <a:p>
                      <a:pPr>
                        <a:buNone/>
                      </a:pPr>
                      <a:r>
                        <a:rPr lang="en-US" sz="1000"/>
                        <a:t>Style Change Detection Method Based On Pre-Trained Model And Similarity Recognition</a:t>
                      </a:r>
                    </a:p>
                  </a:txBody>
                  <a:tcPr anchor="ctr"/>
                </a:tc>
                <a:tc>
                  <a:txBody>
                    <a:bodyPr/>
                    <a:lstStyle/>
                    <a:p>
                      <a:pPr>
                        <a:buNone/>
                      </a:pPr>
                      <a:r>
                        <a:rPr lang="en-IN" sz="1000"/>
                        <a:t>2022</a:t>
                      </a:r>
                    </a:p>
                  </a:txBody>
                  <a:tcPr anchor="ctr"/>
                </a:tc>
                <a:tc>
                  <a:txBody>
                    <a:bodyPr/>
                    <a:lstStyle/>
                    <a:p>
                      <a:pPr>
                        <a:buNone/>
                      </a:pPr>
                      <a:r>
                        <a:rPr lang="en-IN" sz="1000"/>
                        <a:t>Z. Zhang, H. Jiang, &amp; M. Zhang</a:t>
                      </a:r>
                    </a:p>
                  </a:txBody>
                  <a:tcPr anchor="ctr"/>
                </a:tc>
                <a:tc>
                  <a:txBody>
                    <a:bodyPr/>
                    <a:lstStyle/>
                    <a:p>
                      <a:pPr>
                        <a:buNone/>
                      </a:pPr>
                      <a:r>
                        <a:rPr lang="en-IN" sz="1000"/>
                        <a:t>Pre-trained models, similarity recognition</a:t>
                      </a:r>
                    </a:p>
                  </a:txBody>
                  <a:tcPr anchor="ctr"/>
                </a:tc>
                <a:tc>
                  <a:txBody>
                    <a:bodyPr/>
                    <a:lstStyle/>
                    <a:p>
                      <a:pPr>
                        <a:buNone/>
                      </a:pPr>
                      <a:r>
                        <a:rPr lang="en-US" sz="1000" b="1"/>
                        <a:t>Sensitive to threshold tuning</a:t>
                      </a:r>
                      <a:r>
                        <a:rPr lang="en-US" sz="1000"/>
                        <a:t>; the choice of the similarity threshold significantly impacts performance.</a:t>
                      </a:r>
                    </a:p>
                  </a:txBody>
                  <a:tcPr anchor="ctr"/>
                </a:tc>
                <a:extLst>
                  <a:ext uri="{0D108BD9-81ED-4DB2-BD59-A6C34878D82A}">
                    <a16:rowId xmlns:a16="http://schemas.microsoft.com/office/drawing/2014/main" val="4181027337"/>
                  </a:ext>
                </a:extLst>
              </a:tr>
              <a:tr h="557484">
                <a:tc>
                  <a:txBody>
                    <a:bodyPr/>
                    <a:lstStyle/>
                    <a:p>
                      <a:pPr>
                        <a:buNone/>
                      </a:pPr>
                      <a:r>
                        <a:rPr lang="en-US" sz="1000"/>
                        <a:t>Three-Shots Similarity: sentence-embedding, auxiliary words, pronunciation</a:t>
                      </a:r>
                    </a:p>
                  </a:txBody>
                  <a:tcPr anchor="ctr"/>
                </a:tc>
                <a:tc>
                  <a:txBody>
                    <a:bodyPr/>
                    <a:lstStyle/>
                    <a:p>
                      <a:pPr>
                        <a:buNone/>
                      </a:pPr>
                      <a:r>
                        <a:rPr lang="en-IN" sz="1000"/>
                        <a:t>2022</a:t>
                      </a:r>
                    </a:p>
                  </a:txBody>
                  <a:tcPr anchor="ctr"/>
                </a:tc>
                <a:tc>
                  <a:txBody>
                    <a:bodyPr/>
                    <a:lstStyle/>
                    <a:p>
                      <a:pPr>
                        <a:buNone/>
                      </a:pPr>
                      <a:r>
                        <a:rPr lang="es-ES" sz="1000"/>
                        <a:t>C. A. Rodríguez-Lascano &amp; D. Castro-Castro</a:t>
                      </a:r>
                    </a:p>
                  </a:txBody>
                  <a:tcPr anchor="ctr"/>
                </a:tc>
                <a:tc>
                  <a:txBody>
                    <a:bodyPr/>
                    <a:lstStyle/>
                    <a:p>
                      <a:pPr>
                        <a:buNone/>
                      </a:pPr>
                      <a:r>
                        <a:rPr lang="en-IN" sz="1000"/>
                        <a:t>Sentence-embedding, pronunciation features</a:t>
                      </a:r>
                    </a:p>
                  </a:txBody>
                  <a:tcPr anchor="ctr"/>
                </a:tc>
                <a:tc>
                  <a:txBody>
                    <a:bodyPr/>
                    <a:lstStyle/>
                    <a:p>
                      <a:pPr>
                        <a:buNone/>
                      </a:pPr>
                      <a:r>
                        <a:rPr lang="en-US" sz="1000" b="1" dirty="0"/>
                        <a:t>Language-dependent</a:t>
                      </a:r>
                      <a:r>
                        <a:rPr lang="en-US" sz="1000" dirty="0"/>
                        <a:t>; the reliance on English pronunciation features makes the model difficult to adapt to other languages.</a:t>
                      </a:r>
                    </a:p>
                  </a:txBody>
                  <a:tcPr anchor="ctr"/>
                </a:tc>
                <a:extLst>
                  <a:ext uri="{0D108BD9-81ED-4DB2-BD59-A6C34878D82A}">
                    <a16:rowId xmlns:a16="http://schemas.microsoft.com/office/drawing/2014/main" val="2150146303"/>
                  </a:ext>
                </a:extLst>
              </a:tr>
              <a:tr h="557484">
                <a:tc>
                  <a:txBody>
                    <a:bodyPr/>
                    <a:lstStyle/>
                    <a:p>
                      <a:pPr>
                        <a:buNone/>
                      </a:pPr>
                      <a:r>
                        <a:rPr lang="en-IN" sz="1000" dirty="0"/>
                        <a:t>Ensemble Pre-trained Transformer Models for Writing Style Change Detection</a:t>
                      </a:r>
                    </a:p>
                  </a:txBody>
                  <a:tcPr anchor="ctr"/>
                </a:tc>
                <a:tc>
                  <a:txBody>
                    <a:bodyPr/>
                    <a:lstStyle/>
                    <a:p>
                      <a:pPr>
                        <a:buNone/>
                      </a:pPr>
                      <a:r>
                        <a:rPr lang="en-IN" sz="1000"/>
                        <a:t>2022</a:t>
                      </a:r>
                    </a:p>
                  </a:txBody>
                  <a:tcPr anchor="ctr"/>
                </a:tc>
                <a:tc>
                  <a:txBody>
                    <a:bodyPr/>
                    <a:lstStyle/>
                    <a:p>
                      <a:pPr>
                        <a:buNone/>
                      </a:pPr>
                      <a:r>
                        <a:rPr lang="en-IN" sz="1000"/>
                        <a:t>T. Lin et al.</a:t>
                      </a:r>
                    </a:p>
                  </a:txBody>
                  <a:tcPr anchor="ctr"/>
                </a:tc>
                <a:tc>
                  <a:txBody>
                    <a:bodyPr/>
                    <a:lstStyle/>
                    <a:p>
                      <a:pPr>
                        <a:buNone/>
                      </a:pPr>
                      <a:r>
                        <a:rPr lang="en-IN" sz="1000"/>
                        <a:t>Ensemble Pre-trained Transformer Models</a:t>
                      </a:r>
                    </a:p>
                  </a:txBody>
                  <a:tcPr anchor="ctr"/>
                </a:tc>
                <a:tc>
                  <a:txBody>
                    <a:bodyPr/>
                    <a:lstStyle/>
                    <a:p>
                      <a:pPr>
                        <a:buNone/>
                      </a:pPr>
                      <a:r>
                        <a:rPr lang="en-US" sz="1000" b="1"/>
                        <a:t>Very high resource demand</a:t>
                      </a:r>
                      <a:r>
                        <a:rPr lang="en-US" sz="1000"/>
                        <a:t> (CPU/GPU and memory) due to the ensembling of multiple large transformer models.</a:t>
                      </a:r>
                    </a:p>
                  </a:txBody>
                  <a:tcPr anchor="ctr"/>
                </a:tc>
                <a:extLst>
                  <a:ext uri="{0D108BD9-81ED-4DB2-BD59-A6C34878D82A}">
                    <a16:rowId xmlns:a16="http://schemas.microsoft.com/office/drawing/2014/main" val="377342575"/>
                  </a:ext>
                </a:extLst>
              </a:tr>
              <a:tr h="402627">
                <a:tc>
                  <a:txBody>
                    <a:bodyPr/>
                    <a:lstStyle/>
                    <a:p>
                      <a:pPr>
                        <a:buNone/>
                      </a:pPr>
                      <a:r>
                        <a:rPr lang="en-US" sz="1000" dirty="0"/>
                        <a:t>Style Change Detection using Discourse Markers</a:t>
                      </a:r>
                    </a:p>
                  </a:txBody>
                  <a:tcPr anchor="ctr"/>
                </a:tc>
                <a:tc>
                  <a:txBody>
                    <a:bodyPr/>
                    <a:lstStyle/>
                    <a:p>
                      <a:pPr>
                        <a:buNone/>
                      </a:pPr>
                      <a:r>
                        <a:rPr lang="en-IN" sz="1000"/>
                        <a:t>2022</a:t>
                      </a:r>
                    </a:p>
                  </a:txBody>
                  <a:tcPr anchor="ctr"/>
                </a:tc>
                <a:tc>
                  <a:txBody>
                    <a:bodyPr/>
                    <a:lstStyle/>
                    <a:p>
                      <a:pPr>
                        <a:buNone/>
                      </a:pPr>
                      <a:r>
                        <a:rPr lang="en-IN" sz="1000"/>
                        <a:t>E. Fakhri Niri &amp; V. Madani</a:t>
                      </a:r>
                    </a:p>
                  </a:txBody>
                  <a:tcPr anchor="ctr"/>
                </a:tc>
                <a:tc>
                  <a:txBody>
                    <a:bodyPr/>
                    <a:lstStyle/>
                    <a:p>
                      <a:pPr>
                        <a:buNone/>
                      </a:pPr>
                      <a:r>
                        <a:rPr lang="en-IN" sz="1000"/>
                        <a:t>Discourse Markers</a:t>
                      </a:r>
                    </a:p>
                  </a:txBody>
                  <a:tcPr anchor="ctr"/>
                </a:tc>
                <a:tc>
                  <a:txBody>
                    <a:bodyPr/>
                    <a:lstStyle/>
                    <a:p>
                      <a:pPr>
                        <a:buNone/>
                      </a:pPr>
                      <a:r>
                        <a:rPr lang="en-US" sz="1000" b="1"/>
                        <a:t>Effectiveness is inconsistent</a:t>
                      </a:r>
                      <a:r>
                        <a:rPr lang="en-US" sz="1000"/>
                        <a:t> as it depends heavily on authors' use of specific discourse markers (e.g., 'however', 'therefore').</a:t>
                      </a:r>
                    </a:p>
                  </a:txBody>
                  <a:tcPr anchor="ctr"/>
                </a:tc>
                <a:extLst>
                  <a:ext uri="{0D108BD9-81ED-4DB2-BD59-A6C34878D82A}">
                    <a16:rowId xmlns:a16="http://schemas.microsoft.com/office/drawing/2014/main" val="82842476"/>
                  </a:ext>
                </a:extLst>
              </a:tr>
              <a:tr h="402627">
                <a:tc>
                  <a:txBody>
                    <a:bodyPr/>
                    <a:lstStyle/>
                    <a:p>
                      <a:pPr>
                        <a:buNone/>
                      </a:pPr>
                      <a:r>
                        <a:rPr lang="en-US" sz="1000"/>
                        <a:t>Style change detection using Siamese neural networks</a:t>
                      </a:r>
                    </a:p>
                  </a:txBody>
                  <a:tcPr anchor="ctr"/>
                </a:tc>
                <a:tc>
                  <a:txBody>
                    <a:bodyPr/>
                    <a:lstStyle/>
                    <a:p>
                      <a:pPr>
                        <a:buNone/>
                      </a:pPr>
                      <a:r>
                        <a:rPr lang="en-IN" sz="1000"/>
                        <a:t>2021</a:t>
                      </a:r>
                    </a:p>
                  </a:txBody>
                  <a:tcPr anchor="ctr"/>
                </a:tc>
                <a:tc>
                  <a:txBody>
                    <a:bodyPr/>
                    <a:lstStyle/>
                    <a:p>
                      <a:pPr>
                        <a:buNone/>
                      </a:pPr>
                      <a:r>
                        <a:rPr lang="en-IN" sz="1000"/>
                        <a:t>S. Nath</a:t>
                      </a:r>
                    </a:p>
                  </a:txBody>
                  <a:tcPr anchor="ctr"/>
                </a:tc>
                <a:tc>
                  <a:txBody>
                    <a:bodyPr/>
                    <a:lstStyle/>
                    <a:p>
                      <a:pPr>
                        <a:buNone/>
                      </a:pPr>
                      <a:r>
                        <a:rPr lang="en-IN" sz="1000"/>
                        <a:t>Siamese Neural Networks</a:t>
                      </a:r>
                    </a:p>
                  </a:txBody>
                  <a:tcPr anchor="ctr"/>
                </a:tc>
                <a:tc>
                  <a:txBody>
                    <a:bodyPr/>
                    <a:lstStyle/>
                    <a:p>
                      <a:pPr>
                        <a:buNone/>
                      </a:pPr>
                      <a:r>
                        <a:rPr lang="en-US" sz="1000" b="1"/>
                        <a:t>Requires large, well-curated paired data</a:t>
                      </a:r>
                      <a:r>
                        <a:rPr lang="en-US" sz="1000"/>
                        <a:t> for training, which can be difficult and time-consuming to create.</a:t>
                      </a:r>
                    </a:p>
                  </a:txBody>
                  <a:tcPr anchor="ctr"/>
                </a:tc>
                <a:extLst>
                  <a:ext uri="{0D108BD9-81ED-4DB2-BD59-A6C34878D82A}">
                    <a16:rowId xmlns:a16="http://schemas.microsoft.com/office/drawing/2014/main" val="615208683"/>
                  </a:ext>
                </a:extLst>
              </a:tr>
              <a:tr h="557484">
                <a:tc>
                  <a:txBody>
                    <a:bodyPr/>
                    <a:lstStyle/>
                    <a:p>
                      <a:pPr>
                        <a:buNone/>
                      </a:pPr>
                      <a:r>
                        <a:rPr lang="en-US" sz="1000"/>
                        <a:t>Stylistic Change Detection using an LSTM-powered Attribution Algorithm</a:t>
                      </a:r>
                    </a:p>
                  </a:txBody>
                  <a:tcPr anchor="ctr"/>
                </a:tc>
                <a:tc>
                  <a:txBody>
                    <a:bodyPr/>
                    <a:lstStyle/>
                    <a:p>
                      <a:pPr>
                        <a:buNone/>
                      </a:pPr>
                      <a:r>
                        <a:rPr lang="en-IN" sz="1000"/>
                        <a:t>2021</a:t>
                      </a:r>
                    </a:p>
                  </a:txBody>
                  <a:tcPr anchor="ctr"/>
                </a:tc>
                <a:tc>
                  <a:txBody>
                    <a:bodyPr/>
                    <a:lstStyle/>
                    <a:p>
                      <a:pPr>
                        <a:buNone/>
                      </a:pPr>
                      <a:r>
                        <a:rPr lang="en-IN" sz="1000"/>
                        <a:t>R. Prentiss &amp; D. DiPersio</a:t>
                      </a:r>
                    </a:p>
                  </a:txBody>
                  <a:tcPr anchor="ctr"/>
                </a:tc>
                <a:tc>
                  <a:txBody>
                    <a:bodyPr/>
                    <a:lstStyle/>
                    <a:p>
                      <a:pPr>
                        <a:buNone/>
                      </a:pPr>
                      <a:r>
                        <a:rPr lang="en-IN" sz="1000"/>
                        <a:t>LSTM-powered Attribution Algorithm</a:t>
                      </a:r>
                    </a:p>
                  </a:txBody>
                  <a:tcPr anchor="ctr"/>
                </a:tc>
                <a:tc>
                  <a:txBody>
                    <a:bodyPr/>
                    <a:lstStyle/>
                    <a:p>
                      <a:pPr>
                        <a:buNone/>
                      </a:pPr>
                      <a:r>
                        <a:rPr lang="en-US" sz="1000" b="1"/>
                        <a:t>Less effective on long-range dependencies</a:t>
                      </a:r>
                      <a:r>
                        <a:rPr lang="en-US" sz="1000"/>
                        <a:t> in text compared to more modern transformer architectures.</a:t>
                      </a:r>
                    </a:p>
                  </a:txBody>
                  <a:tcPr anchor="ctr"/>
                </a:tc>
                <a:extLst>
                  <a:ext uri="{0D108BD9-81ED-4DB2-BD59-A6C34878D82A}">
                    <a16:rowId xmlns:a16="http://schemas.microsoft.com/office/drawing/2014/main" val="1269090779"/>
                  </a:ext>
                </a:extLst>
              </a:tr>
              <a:tr h="557484">
                <a:tc>
                  <a:txBody>
                    <a:bodyPr/>
                    <a:lstStyle/>
                    <a:p>
                      <a:pPr>
                        <a:buNone/>
                      </a:pPr>
                      <a:r>
                        <a:rPr lang="en-US" sz="1000"/>
                        <a:t>Writing Style Change Detection in Multi-Author Documents</a:t>
                      </a:r>
                    </a:p>
                  </a:txBody>
                  <a:tcPr anchor="ctr"/>
                </a:tc>
                <a:tc>
                  <a:txBody>
                    <a:bodyPr/>
                    <a:lstStyle/>
                    <a:p>
                      <a:pPr>
                        <a:buNone/>
                      </a:pPr>
                      <a:r>
                        <a:rPr lang="en-IN" sz="1000"/>
                        <a:t>2021</a:t>
                      </a:r>
                    </a:p>
                  </a:txBody>
                  <a:tcPr anchor="ctr"/>
                </a:tc>
                <a:tc>
                  <a:txBody>
                    <a:bodyPr/>
                    <a:lstStyle/>
                    <a:p>
                      <a:pPr>
                        <a:buNone/>
                      </a:pPr>
                      <a:r>
                        <a:rPr lang="de-DE" sz="1000"/>
                        <a:t>N. Sieger, J. Wever-Benque, &amp; R. Greenstadt</a:t>
                      </a:r>
                    </a:p>
                  </a:txBody>
                  <a:tcPr anchor="ctr"/>
                </a:tc>
                <a:tc>
                  <a:txBody>
                    <a:bodyPr/>
                    <a:lstStyle/>
                    <a:p>
                      <a:pPr>
                        <a:buNone/>
                      </a:pPr>
                      <a:r>
                        <a:rPr lang="en-IN" sz="1000"/>
                        <a:t>Feature-based classification</a:t>
                      </a:r>
                    </a:p>
                  </a:txBody>
                  <a:tcPr anchor="ctr"/>
                </a:tc>
                <a:tc>
                  <a:txBody>
                    <a:bodyPr/>
                    <a:lstStyle/>
                    <a:p>
                      <a:pPr>
                        <a:buNone/>
                      </a:pPr>
                      <a:r>
                        <a:rPr lang="en-US" sz="1000" b="1"/>
                        <a:t>Struggles with subtle style shifts</a:t>
                      </a:r>
                      <a:r>
                        <a:rPr lang="en-US" sz="1000"/>
                        <a:t> or when authors have very similar writing styles.</a:t>
                      </a:r>
                    </a:p>
                  </a:txBody>
                  <a:tcPr anchor="ctr"/>
                </a:tc>
                <a:extLst>
                  <a:ext uri="{0D108BD9-81ED-4DB2-BD59-A6C34878D82A}">
                    <a16:rowId xmlns:a16="http://schemas.microsoft.com/office/drawing/2014/main" val="1305653372"/>
                  </a:ext>
                </a:extLst>
              </a:tr>
              <a:tr h="472839">
                <a:tc>
                  <a:txBody>
                    <a:bodyPr/>
                    <a:lstStyle/>
                    <a:p>
                      <a:pPr>
                        <a:buNone/>
                      </a:pPr>
                      <a:r>
                        <a:rPr lang="en-US" sz="1000"/>
                        <a:t>Multi-Step Feature Representation and Bi-Directional Clustering</a:t>
                      </a:r>
                    </a:p>
                  </a:txBody>
                  <a:tcPr anchor="ctr"/>
                </a:tc>
                <a:tc>
                  <a:txBody>
                    <a:bodyPr/>
                    <a:lstStyle/>
                    <a:p>
                      <a:pPr>
                        <a:buNone/>
                      </a:pPr>
                      <a:r>
                        <a:rPr lang="en-IN" sz="1000" dirty="0"/>
                        <a:t>2020</a:t>
                      </a:r>
                    </a:p>
                  </a:txBody>
                  <a:tcPr anchor="ctr"/>
                </a:tc>
                <a:tc>
                  <a:txBody>
                    <a:bodyPr/>
                    <a:lstStyle/>
                    <a:p>
                      <a:pPr>
                        <a:buNone/>
                      </a:pPr>
                      <a:r>
                        <a:rPr lang="en-IN" sz="1000"/>
                        <a:t>D. Castro Castro et al.</a:t>
                      </a:r>
                    </a:p>
                  </a:txBody>
                  <a:tcPr anchor="ctr"/>
                </a:tc>
                <a:tc>
                  <a:txBody>
                    <a:bodyPr/>
                    <a:lstStyle/>
                    <a:p>
                      <a:pPr>
                        <a:buNone/>
                      </a:pPr>
                      <a:r>
                        <a:rPr lang="en-US" sz="1000"/>
                        <a:t>Multi-Step Feature Representation, Bi-Directional Clustering</a:t>
                      </a:r>
                    </a:p>
                  </a:txBody>
                  <a:tcPr anchor="ctr"/>
                </a:tc>
                <a:tc>
                  <a:txBody>
                    <a:bodyPr/>
                    <a:lstStyle/>
                    <a:p>
                      <a:pPr>
                        <a:buNone/>
                      </a:pPr>
                      <a:r>
                        <a:rPr lang="en-US" sz="1000" b="1"/>
                        <a:t>Risk of error propagation</a:t>
                      </a:r>
                      <a:r>
                        <a:rPr lang="en-US" sz="1000"/>
                        <a:t>; errors from the initial feature representation step can negatively affect the final clustering accuracy.</a:t>
                      </a:r>
                    </a:p>
                  </a:txBody>
                  <a:tcPr anchor="ctr"/>
                </a:tc>
                <a:extLst>
                  <a:ext uri="{0D108BD9-81ED-4DB2-BD59-A6C34878D82A}">
                    <a16:rowId xmlns:a16="http://schemas.microsoft.com/office/drawing/2014/main" val="2028141255"/>
                  </a:ext>
                </a:extLst>
              </a:tr>
              <a:tr h="759712">
                <a:tc>
                  <a:txBody>
                    <a:bodyPr/>
                    <a:lstStyle/>
                    <a:p>
                      <a:pPr>
                        <a:buNone/>
                      </a:pPr>
                      <a:r>
                        <a:rPr lang="en-US" sz="1000"/>
                        <a:t>A Partial Hierarchical Attention Network for Style Change Detection</a:t>
                      </a:r>
                    </a:p>
                  </a:txBody>
                  <a:tcPr anchor="ctr"/>
                </a:tc>
                <a:tc>
                  <a:txBody>
                    <a:bodyPr/>
                    <a:lstStyle/>
                    <a:p>
                      <a:pPr>
                        <a:buNone/>
                      </a:pPr>
                      <a:r>
                        <a:rPr lang="en-IN" sz="1000"/>
                        <a:t>2018</a:t>
                      </a:r>
                    </a:p>
                  </a:txBody>
                  <a:tcPr anchor="ctr"/>
                </a:tc>
                <a:tc>
                  <a:txBody>
                    <a:bodyPr/>
                    <a:lstStyle/>
                    <a:p>
                      <a:pPr>
                        <a:buNone/>
                      </a:pPr>
                      <a:r>
                        <a:rPr lang="en-IN" sz="1000"/>
                        <a:t>M. Hosseini &amp; A. Mukerjee</a:t>
                      </a:r>
                    </a:p>
                  </a:txBody>
                  <a:tcPr anchor="ctr"/>
                </a:tc>
                <a:tc>
                  <a:txBody>
                    <a:bodyPr/>
                    <a:lstStyle/>
                    <a:p>
                      <a:pPr>
                        <a:buNone/>
                      </a:pPr>
                      <a:r>
                        <a:rPr lang="en-IN" sz="1000"/>
                        <a:t>Partial Hierarchical Attention Network</a:t>
                      </a:r>
                    </a:p>
                  </a:txBody>
                  <a:tcPr anchor="ctr"/>
                </a:tc>
                <a:tc>
                  <a:txBody>
                    <a:bodyPr/>
                    <a:lstStyle/>
                    <a:p>
                      <a:pPr>
                        <a:buNone/>
                      </a:pPr>
                      <a:r>
                        <a:rPr lang="en-US" sz="1000" b="1" dirty="0"/>
                        <a:t>Limited contextual understanding</a:t>
                      </a:r>
                      <a:r>
                        <a:rPr lang="en-US" sz="1000" dirty="0"/>
                        <a:t> compared to the full self-attention mechanisms in modern transformer models.</a:t>
                      </a:r>
                    </a:p>
                  </a:txBody>
                  <a:tcPr anchor="ctr"/>
                </a:tc>
                <a:extLst>
                  <a:ext uri="{0D108BD9-81ED-4DB2-BD59-A6C34878D82A}">
                    <a16:rowId xmlns:a16="http://schemas.microsoft.com/office/drawing/2014/main" val="1592945885"/>
                  </a:ext>
                </a:extLst>
              </a:tr>
            </a:tbl>
          </a:graphicData>
        </a:graphic>
      </p:graphicFrame>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10CA742-9617-0ED7-E958-18BECDD9FAC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E87A05E-2AC9-3EE5-1B5F-F178E41BF56A}"/>
              </a:ext>
            </a:extLst>
          </p:cNvPr>
          <p:cNvSpPr>
            <a:spLocks noGrp="1" noChangeArrowheads="1"/>
          </p:cNvSpPr>
          <p:nvPr>
            <p:ph type="body" idx="1"/>
          </p:nvPr>
        </p:nvSpPr>
        <p:spPr bwMode="auto">
          <a:xfrm>
            <a:off x="762000" y="1495047"/>
            <a:ext cx="10668000" cy="410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58800" lvl="1" indent="0">
              <a:buNone/>
            </a:pPr>
            <a:r>
              <a:rPr lang="en-US" sz="1800" b="1" dirty="0">
                <a:latin typeface="Calibri" panose="020F0502020204030204" pitchFamily="34" charset="0"/>
                <a:ea typeface="Calibri" panose="020F0502020204030204" pitchFamily="34" charset="0"/>
                <a:cs typeface="Calibri" panose="020F0502020204030204" pitchFamily="34" charset="0"/>
              </a:rPr>
              <a:t>Data Ingestion Module</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the entry point. Its sole responsibility is to read raw data from the local file system (.txt files for text, .</a:t>
            </a:r>
            <a:r>
              <a:rPr lang="en-US" sz="1800" dirty="0" err="1">
                <a:latin typeface="Calibri" panose="020F0502020204030204" pitchFamily="34" charset="0"/>
                <a:ea typeface="Calibri" panose="020F0502020204030204" pitchFamily="34" charset="0"/>
                <a:cs typeface="Calibri" panose="020F0502020204030204" pitchFamily="34" charset="0"/>
              </a:rPr>
              <a:t>json</a:t>
            </a:r>
            <a:r>
              <a:rPr lang="en-US" sz="1800" dirty="0">
                <a:latin typeface="Calibri" panose="020F0502020204030204" pitchFamily="34" charset="0"/>
                <a:ea typeface="Calibri" panose="020F0502020204030204" pitchFamily="34" charset="0"/>
                <a:cs typeface="Calibri" panose="020F0502020204030204" pitchFamily="34" charset="0"/>
              </a:rPr>
              <a:t> files for labels), parse them, and load them into memory as Python lists.</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a:p>
            <a:pPr marL="558800" lvl="1" indent="0">
              <a:buNone/>
            </a:pPr>
            <a:r>
              <a:rPr lang="en-US" sz="1800" b="1" dirty="0">
                <a:latin typeface="Calibri" panose="020F0502020204030204" pitchFamily="34" charset="0"/>
                <a:ea typeface="Calibri" panose="020F0502020204030204" pitchFamily="34" charset="0"/>
                <a:cs typeface="Calibri" panose="020F0502020204030204" pitchFamily="34" charset="0"/>
              </a:rPr>
              <a:t>Data Processing &amp; Tokenization Engine</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r>
              <a:rPr lang="en-US" sz="1800" dirty="0">
                <a:latin typeface="Calibri" panose="020F0502020204030204" pitchFamily="34" charset="0"/>
                <a:ea typeface="Calibri" panose="020F0502020204030204" pitchFamily="34" charset="0"/>
                <a:cs typeface="Calibri" panose="020F0502020204030204" pitchFamily="34" charset="0"/>
              </a:rPr>
              <a:t>This component takes the raw data and prepares it for the model. It uses the Hugging Face datasets library to structure the data and the </a:t>
            </a:r>
            <a:r>
              <a:rPr lang="en-US" sz="1800" dirty="0" err="1">
                <a:latin typeface="Calibri" panose="020F0502020204030204" pitchFamily="34" charset="0"/>
                <a:ea typeface="Calibri" panose="020F0502020204030204" pitchFamily="34" charset="0"/>
                <a:cs typeface="Calibri" panose="020F0502020204030204" pitchFamily="34" charset="0"/>
              </a:rPr>
              <a:t>AlbertTokenizer</a:t>
            </a:r>
            <a:r>
              <a:rPr lang="en-US" sz="1800" dirty="0">
                <a:latin typeface="Calibri" panose="020F0502020204030204" pitchFamily="34" charset="0"/>
                <a:ea typeface="Calibri" panose="020F0502020204030204" pitchFamily="34" charset="0"/>
                <a:cs typeface="Calibri" panose="020F0502020204030204" pitchFamily="34" charset="0"/>
              </a:rPr>
              <a:t> to convert text into numerical tensors. It also handles the crucial step of splitting the data into training, validation, and test sets.</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a:p>
            <a:pPr marL="558800" lvl="1" indent="0">
              <a:buNone/>
            </a:pPr>
            <a:r>
              <a:rPr lang="en-US" sz="1800" b="1" dirty="0">
                <a:latin typeface="Calibri" panose="020F0502020204030204" pitchFamily="34" charset="0"/>
                <a:ea typeface="Calibri" panose="020F0502020204030204" pitchFamily="34" charset="0"/>
                <a:cs typeface="Calibri" panose="020F0502020204030204" pitchFamily="34" charset="0"/>
              </a:rPr>
              <a:t>Core Model (ALBERT)</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the "brain" of the system. It's the </a:t>
            </a:r>
            <a:r>
              <a:rPr lang="en-US" sz="1800" dirty="0" err="1">
                <a:latin typeface="Calibri" panose="020F0502020204030204" pitchFamily="34" charset="0"/>
                <a:ea typeface="Calibri" panose="020F0502020204030204" pitchFamily="34" charset="0"/>
                <a:cs typeface="Calibri" panose="020F0502020204030204" pitchFamily="34" charset="0"/>
              </a:rPr>
              <a:t>AlbertForSequenceClassification</a:t>
            </a:r>
            <a:r>
              <a:rPr lang="en-US" sz="1800" dirty="0">
                <a:latin typeface="Calibri" panose="020F0502020204030204" pitchFamily="34" charset="0"/>
                <a:ea typeface="Calibri" panose="020F0502020204030204" pitchFamily="34" charset="0"/>
                <a:cs typeface="Calibri" panose="020F0502020204030204" pitchFamily="34" charset="0"/>
              </a:rPr>
              <a:t> model, pre-trained on a vast corpus of text. The pipeline's goal is to fine-tune the existing knowledge of this model for the specific stylometry task.</a:t>
            </a:r>
          </a:p>
        </p:txBody>
      </p:sp>
      <p:sp>
        <p:nvSpPr>
          <p:cNvPr id="3" name="Title 2">
            <a:extLst>
              <a:ext uri="{FF2B5EF4-FFF2-40B4-BE49-F238E27FC236}">
                <a16:creationId xmlns:a16="http://schemas.microsoft.com/office/drawing/2014/main" id="{4BA180A7-F0E0-0C5A-5864-78D41219C81D}"/>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System Design</a:t>
            </a:r>
          </a:p>
        </p:txBody>
      </p:sp>
    </p:spTree>
    <p:extLst>
      <p:ext uri="{BB962C8B-B14F-4D97-AF65-F5344CB8AC3E}">
        <p14:creationId xmlns:p14="http://schemas.microsoft.com/office/powerpoint/2010/main" val="4033369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39138AC-1D08-A231-3303-F43A2730939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B9EEFC4-7AF4-72F4-6384-9D5D0979A3DB}"/>
              </a:ext>
            </a:extLst>
          </p:cNvPr>
          <p:cNvSpPr>
            <a:spLocks noGrp="1" noChangeArrowheads="1"/>
          </p:cNvSpPr>
          <p:nvPr>
            <p:ph type="body" idx="1"/>
          </p:nvPr>
        </p:nvSpPr>
        <p:spPr bwMode="auto">
          <a:xfrm>
            <a:off x="762000" y="1218051"/>
            <a:ext cx="10668000" cy="4657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58800" lvl="1" indent="0">
              <a:buNone/>
            </a:pPr>
            <a:r>
              <a:rPr lang="en-US" sz="1800" b="1" dirty="0">
                <a:latin typeface="Calibri" panose="020F0502020204030204" pitchFamily="34" charset="0"/>
                <a:ea typeface="Calibri" panose="020F0502020204030204" pitchFamily="34" charset="0"/>
                <a:cs typeface="Calibri" panose="020F0502020204030204" pitchFamily="34" charset="0"/>
              </a:rPr>
              <a:t>Training Orchestrator (Trainer API)</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the conductor of the entire operation. The Hugging Face Trainer class is a high-level API that abstracts away the complex training loop (gradient updates, optimization, etc.). It's configured by </a:t>
            </a:r>
            <a:r>
              <a:rPr lang="en-US" sz="1800" dirty="0" err="1">
                <a:latin typeface="Calibri" panose="020F0502020204030204" pitchFamily="34" charset="0"/>
                <a:ea typeface="Calibri" panose="020F0502020204030204" pitchFamily="34" charset="0"/>
                <a:cs typeface="Calibri" panose="020F0502020204030204" pitchFamily="34" charset="0"/>
              </a:rPr>
              <a:t>TrainingArguments</a:t>
            </a:r>
            <a:r>
              <a:rPr lang="en-US" sz="1800" dirty="0">
                <a:latin typeface="Calibri" panose="020F0502020204030204" pitchFamily="34" charset="0"/>
                <a:ea typeface="Calibri" panose="020F0502020204030204" pitchFamily="34" charset="0"/>
                <a:cs typeface="Calibri" panose="020F0502020204030204" pitchFamily="34" charset="0"/>
              </a:rPr>
              <a:t> and coordinates the interaction between the model, the data, and the evaluation module.</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a:p>
            <a:pPr marL="558800" lvl="1" indent="0">
              <a:buNone/>
            </a:pPr>
            <a:r>
              <a:rPr lang="en-US" sz="1800" b="1" dirty="0">
                <a:latin typeface="Calibri" panose="020F0502020204030204" pitchFamily="34" charset="0"/>
                <a:ea typeface="Calibri" panose="020F0502020204030204" pitchFamily="34" charset="0"/>
                <a:cs typeface="Calibri" panose="020F0502020204030204" pitchFamily="34" charset="0"/>
              </a:rPr>
              <a:t>Evaluation Module</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r>
              <a:rPr lang="en-US" sz="1800" dirty="0">
                <a:latin typeface="Calibri" panose="020F0502020204030204" pitchFamily="34" charset="0"/>
                <a:ea typeface="Calibri" panose="020F0502020204030204" pitchFamily="34" charset="0"/>
                <a:cs typeface="Calibri" panose="020F0502020204030204" pitchFamily="34" charset="0"/>
              </a:rPr>
              <a:t>A small but critical component (</a:t>
            </a:r>
            <a:r>
              <a:rPr lang="en-US" sz="1800" dirty="0" err="1">
                <a:latin typeface="Calibri" panose="020F0502020204030204" pitchFamily="34" charset="0"/>
                <a:ea typeface="Calibri" panose="020F0502020204030204" pitchFamily="34" charset="0"/>
                <a:cs typeface="Calibri" panose="020F0502020204030204" pitchFamily="34" charset="0"/>
              </a:rPr>
              <a:t>compute_metrics</a:t>
            </a:r>
            <a:r>
              <a:rPr lang="en-US" sz="1800" dirty="0">
                <a:latin typeface="Calibri" panose="020F0502020204030204" pitchFamily="34" charset="0"/>
                <a:ea typeface="Calibri" panose="020F0502020204030204" pitchFamily="34" charset="0"/>
                <a:cs typeface="Calibri" panose="020F0502020204030204" pitchFamily="34" charset="0"/>
              </a:rPr>
              <a:t> function) that calculates performance metrics like accuracy and F1-score. The orchestrator calls this module to get feedback on the model's performance on the validation and test sets.</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a:p>
            <a:pPr marL="558800" lvl="1" indent="0">
              <a:buNone/>
            </a:pPr>
            <a:r>
              <a:rPr lang="en-US" sz="1800" b="1" dirty="0">
                <a:latin typeface="Calibri" panose="020F0502020204030204" pitchFamily="34" charset="0"/>
                <a:ea typeface="Calibri" panose="020F0502020204030204" pitchFamily="34" charset="0"/>
                <a:cs typeface="Calibri" panose="020F0502020204030204" pitchFamily="34" charset="0"/>
              </a:rPr>
              <a:t>Model Artifact Repository</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the system's final output destination. It's a directory on the local disk where the fine-tuned model weights, configuration file, and tokenizer are saved. This makes the trained model portable and ready for deployment or inference.</a:t>
            </a:r>
          </a:p>
        </p:txBody>
      </p:sp>
      <p:sp>
        <p:nvSpPr>
          <p:cNvPr id="3" name="Title 2">
            <a:extLst>
              <a:ext uri="{FF2B5EF4-FFF2-40B4-BE49-F238E27FC236}">
                <a16:creationId xmlns:a16="http://schemas.microsoft.com/office/drawing/2014/main" id="{EEFF660E-D43D-B34A-65FB-7E85140F4A23}"/>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System Design</a:t>
            </a:r>
          </a:p>
        </p:txBody>
      </p:sp>
    </p:spTree>
    <p:extLst>
      <p:ext uri="{BB962C8B-B14F-4D97-AF65-F5344CB8AC3E}">
        <p14:creationId xmlns:p14="http://schemas.microsoft.com/office/powerpoint/2010/main" val="4031648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2701F97-08E6-A61F-516E-4E95437ADA9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196730A1-BB3A-BCF4-62C6-2AD201617FB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A</a:t>
            </a:r>
            <a:r>
              <a:rPr lang="en-IN" dirty="0" err="1">
                <a:latin typeface="Cambria" panose="02040503050406030204" pitchFamily="18" charset="0"/>
                <a:ea typeface="Cambria" panose="02040503050406030204" pitchFamily="18" charset="0"/>
              </a:rPr>
              <a:t>rchitecture</a:t>
            </a:r>
            <a:r>
              <a:rPr lang="en-IN" dirty="0">
                <a:latin typeface="Cambria" panose="02040503050406030204" pitchFamily="18" charset="0"/>
                <a:ea typeface="Cambria" panose="02040503050406030204" pitchFamily="18" charset="0"/>
              </a:rPr>
              <a:t> Diagram(for Alberta Model)</a:t>
            </a:r>
          </a:p>
        </p:txBody>
      </p:sp>
      <p:sp>
        <p:nvSpPr>
          <p:cNvPr id="2" name="AutoShape 2" descr="Image of ">
            <a:extLst>
              <a:ext uri="{FF2B5EF4-FFF2-40B4-BE49-F238E27FC236}">
                <a16:creationId xmlns:a16="http://schemas.microsoft.com/office/drawing/2014/main" id="{EA388595-7D4C-1365-6167-47A81AD3078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Image of ">
            <a:extLst>
              <a:ext uri="{FF2B5EF4-FFF2-40B4-BE49-F238E27FC236}">
                <a16:creationId xmlns:a16="http://schemas.microsoft.com/office/drawing/2014/main" id="{97B4901D-8A47-9ACD-1C30-FBC6DA3BE82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Image of ">
            <a:extLst>
              <a:ext uri="{FF2B5EF4-FFF2-40B4-BE49-F238E27FC236}">
                <a16:creationId xmlns:a16="http://schemas.microsoft.com/office/drawing/2014/main" id="{EAB5E4BE-28E3-962B-43F1-BC0BB4580C97}"/>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EACBFE13-FA0F-14F6-23A3-FD2D3C4939E2}"/>
              </a:ext>
            </a:extLst>
          </p:cNvPr>
          <p:cNvPicPr>
            <a:picLocks noChangeAspect="1"/>
          </p:cNvPicPr>
          <p:nvPr/>
        </p:nvPicPr>
        <p:blipFill>
          <a:blip r:embed="rId3"/>
          <a:stretch>
            <a:fillRect/>
          </a:stretch>
        </p:blipFill>
        <p:spPr>
          <a:xfrm>
            <a:off x="3657600" y="1357894"/>
            <a:ext cx="4561490" cy="5071961"/>
          </a:xfrm>
          <a:prstGeom prst="rect">
            <a:avLst/>
          </a:prstGeom>
        </p:spPr>
      </p:pic>
    </p:spTree>
    <p:extLst>
      <p:ext uri="{BB962C8B-B14F-4D97-AF65-F5344CB8AC3E}">
        <p14:creationId xmlns:p14="http://schemas.microsoft.com/office/powerpoint/2010/main" val="3054009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AD5C701-8723-9EA8-7341-FAFBA7BDF84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29D2240-B9D7-D3FD-77AC-B49F328655C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A</a:t>
            </a:r>
            <a:r>
              <a:rPr lang="en-IN" dirty="0" err="1">
                <a:latin typeface="Cambria" panose="02040503050406030204" pitchFamily="18" charset="0"/>
                <a:ea typeface="Cambria" panose="02040503050406030204" pitchFamily="18" charset="0"/>
              </a:rPr>
              <a:t>rchitecture</a:t>
            </a:r>
            <a:r>
              <a:rPr lang="en-IN" dirty="0">
                <a:latin typeface="Cambria" panose="02040503050406030204" pitchFamily="18" charset="0"/>
                <a:ea typeface="Cambria" panose="02040503050406030204" pitchFamily="18" charset="0"/>
              </a:rPr>
              <a:t> Diagram(for Image)</a:t>
            </a:r>
          </a:p>
        </p:txBody>
      </p:sp>
      <p:sp>
        <p:nvSpPr>
          <p:cNvPr id="2" name="AutoShape 2" descr="Image of ">
            <a:extLst>
              <a:ext uri="{FF2B5EF4-FFF2-40B4-BE49-F238E27FC236}">
                <a16:creationId xmlns:a16="http://schemas.microsoft.com/office/drawing/2014/main" id="{F9D9F239-0B9C-1D12-DA56-A1DAE1C3DF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Image of ">
            <a:extLst>
              <a:ext uri="{FF2B5EF4-FFF2-40B4-BE49-F238E27FC236}">
                <a16:creationId xmlns:a16="http://schemas.microsoft.com/office/drawing/2014/main" id="{D5BD2B4A-A464-10AF-835A-F2C40969D0F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descr="A diagram of a process&#10;&#10;AI-generated content may be incorrect.">
            <a:extLst>
              <a:ext uri="{FF2B5EF4-FFF2-40B4-BE49-F238E27FC236}">
                <a16:creationId xmlns:a16="http://schemas.microsoft.com/office/drawing/2014/main" id="{B5F18EFC-CB10-9826-CA00-517FD837C905}"/>
              </a:ext>
            </a:extLst>
          </p:cNvPr>
          <p:cNvPicPr>
            <a:picLocks noChangeAspect="1"/>
          </p:cNvPicPr>
          <p:nvPr/>
        </p:nvPicPr>
        <p:blipFill>
          <a:blip r:embed="rId3"/>
          <a:stretch>
            <a:fillRect/>
          </a:stretch>
        </p:blipFill>
        <p:spPr>
          <a:xfrm>
            <a:off x="3310758" y="1143000"/>
            <a:ext cx="4876800" cy="4876800"/>
          </a:xfrm>
          <a:prstGeom prst="rect">
            <a:avLst/>
          </a:prstGeom>
        </p:spPr>
      </p:pic>
    </p:spTree>
    <p:extLst>
      <p:ext uri="{BB962C8B-B14F-4D97-AF65-F5344CB8AC3E}">
        <p14:creationId xmlns:p14="http://schemas.microsoft.com/office/powerpoint/2010/main" val="3718198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734E34F-8050-81DB-A181-A8D3E448C82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C87E333-86B6-0BB1-4592-2D674C6D279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Algorithm</a:t>
            </a:r>
          </a:p>
        </p:txBody>
      </p:sp>
      <p:sp>
        <p:nvSpPr>
          <p:cNvPr id="2" name="Text Placeholder 1">
            <a:extLst>
              <a:ext uri="{FF2B5EF4-FFF2-40B4-BE49-F238E27FC236}">
                <a16:creationId xmlns:a16="http://schemas.microsoft.com/office/drawing/2014/main" id="{788A1AE6-9DE1-AC43-15DF-562FD5C1DB18}"/>
              </a:ext>
            </a:extLst>
          </p:cNvPr>
          <p:cNvSpPr>
            <a:spLocks noGrp="1" noChangeArrowheads="1"/>
          </p:cNvSpPr>
          <p:nvPr>
            <p:ph type="body" idx="1"/>
          </p:nvPr>
        </p:nvSpPr>
        <p:spPr bwMode="auto">
          <a:xfrm>
            <a:off x="609600" y="1021701"/>
            <a:ext cx="108204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Initialization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628650" lvl="1" indent="-1714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Import all necessary libraries like transformers, datasets, torch, and </a:t>
            </a:r>
            <a:r>
              <a:rPr kumimoji="0" lang="en-US"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628650" lvl="1" indent="-171450" eaLnBrk="0" fontAlgn="base" hangingPunct="0">
              <a:spcBef>
                <a:spcPct val="0"/>
              </a:spcBef>
              <a:spcAft>
                <a:spcPct val="0"/>
              </a:spcAft>
              <a:buClrTx/>
              <a:buSzTx/>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Ingestion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Define paths to the text data and the corresponding JSON "truth" files (which contain the author labels).</a:t>
            </a:r>
          </a:p>
          <a:p>
            <a:pPr marL="742950" lvl="1" indent="-2857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Execute the </a:t>
            </a:r>
            <a:r>
              <a:rPr kumimoji="0" lang="en-US"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load_style_detection_data</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function to read paragraphs and their author labels from the files, pairing them together.</a:t>
            </a:r>
          </a:p>
          <a:p>
            <a:pPr marL="742950" lvl="1" indent="-285750" eaLnBrk="0" fontAlgn="base" hangingPunct="0">
              <a:spcBef>
                <a:spcPct val="0"/>
              </a:spcBef>
              <a:spcAft>
                <a:spcPct val="0"/>
              </a:spcAft>
              <a:buClrTx/>
              <a:buSzTx/>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Dataset Creation</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742950" lvl="1" indent="-285750" eaLnBrk="0" fontAlgn="base" hangingPunct="0">
              <a:spcBef>
                <a:spcPct val="0"/>
              </a:spcBef>
              <a:spcAft>
                <a:spcPct val="0"/>
              </a:spcAft>
              <a:buClrTx/>
              <a:buSzTx/>
            </a:pP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Convert the loaded lists of texts and labels into a structured </a:t>
            </a:r>
            <a:r>
              <a:rPr lang="en-US" altLang="en-US" sz="1600" dirty="0" err="1">
                <a:solidFill>
                  <a:schemeClr val="tx1"/>
                </a:solidFill>
                <a:latin typeface="Calibri" panose="020F0502020204030204" pitchFamily="34" charset="0"/>
                <a:ea typeface="Calibri" panose="020F0502020204030204" pitchFamily="34" charset="0"/>
                <a:cs typeface="Calibri" panose="020F0502020204030204" pitchFamily="34" charset="0"/>
              </a:rPr>
              <a:t>datasets.Dataset</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object, which is highly optimized for the Hugging Face ecosystem.</a:t>
            </a:r>
          </a:p>
          <a:p>
            <a:pPr marL="742950" lvl="1" indent="-285750" eaLnBrk="0" fontAlgn="base" hangingPunct="0">
              <a:spcBef>
                <a:spcPct val="0"/>
              </a:spcBef>
              <a:spcAft>
                <a:spcPct val="0"/>
              </a:spcAft>
              <a:buClrTx/>
              <a:buSzTx/>
            </a:pP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Model &amp; Tokenizer Loading</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marL="742950" lvl="1" indent="-285750" eaLnBrk="0" fontAlgn="base" hangingPunct="0">
              <a:spcBef>
                <a:spcPct val="0"/>
              </a:spcBef>
              <a:spcAft>
                <a:spcPct val="0"/>
              </a:spcAft>
              <a:buClrTx/>
              <a:buSzTx/>
            </a:pP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Download and initialize the pre-trained </a:t>
            </a: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'albert-base-v2'</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model and its corresponding tokenizer from the Hugging Face Hub. The model is configured for sequence classification with two possible labels (Author 1, Author 2).</a:t>
            </a:r>
          </a:p>
          <a:p>
            <a:pPr marL="742950" lvl="1" indent="-285750" eaLnBrk="0" fontAlgn="base" hangingPunct="0">
              <a:spcBef>
                <a:spcPct val="0"/>
              </a:spcBef>
              <a:spcAft>
                <a:spcPct val="0"/>
              </a:spcAft>
              <a:buClrTx/>
              <a:buSzTx/>
            </a:pP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Data Preprocessing (Tokenization)</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742950" lvl="1" indent="-285750" eaLnBrk="0" fontAlgn="base" hangingPunct="0">
              <a:spcBef>
                <a:spcPct val="0"/>
              </a:spcBef>
              <a:spcAft>
                <a:spcPct val="0"/>
              </a:spcAft>
              <a:buClrTx/>
              <a:buSzTx/>
            </a:pP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Define a function that uses the ALBERT tokenizer to convert the raw text of each paragraph into numerical IDs.</a:t>
            </a:r>
          </a:p>
          <a:p>
            <a:pPr marL="742950" lvl="1" indent="-285750" eaLnBrk="0" fontAlgn="base" hangingPunct="0">
              <a:spcBef>
                <a:spcPct val="0"/>
              </a:spcBef>
              <a:spcAft>
                <a:spcPct val="0"/>
              </a:spcAft>
              <a:buClrTx/>
              <a:buSzTx/>
            </a:pP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Apply this function to the entire dataset, ensuring all sequences are padded to the same length for batching.</a:t>
            </a:r>
          </a:p>
          <a:p>
            <a:pPr marL="742950" lvl="1" indent="-285750" eaLnBrk="0" fontAlgn="base" hangingPunct="0">
              <a:spcBef>
                <a:spcPct val="0"/>
              </a:spcBef>
              <a:spcAft>
                <a:spcPct val="0"/>
              </a:spcAft>
              <a:buClrTx/>
              <a:buSzTx/>
            </a:pP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8831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4D90661-92A0-AD76-284D-823B429DE46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A17F63B-24B0-F46B-77AF-F3018A8AF7B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Algorithm</a:t>
            </a:r>
          </a:p>
        </p:txBody>
      </p:sp>
      <p:sp>
        <p:nvSpPr>
          <p:cNvPr id="4" name="Rectangle 2">
            <a:extLst>
              <a:ext uri="{FF2B5EF4-FFF2-40B4-BE49-F238E27FC236}">
                <a16:creationId xmlns:a16="http://schemas.microsoft.com/office/drawing/2014/main" id="{486FB548-1792-996D-8E70-83BA4454DC47}"/>
              </a:ext>
            </a:extLst>
          </p:cNvPr>
          <p:cNvSpPr>
            <a:spLocks noGrp="1" noChangeArrowheads="1"/>
          </p:cNvSpPr>
          <p:nvPr>
            <p:ph type="body" idx="1"/>
          </p:nvPr>
        </p:nvSpPr>
        <p:spPr bwMode="auto">
          <a:xfrm>
            <a:off x="378372" y="946800"/>
            <a:ext cx="1151933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Splitting</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628650" lvl="1" indent="-1714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Divide the processed dataset into three distinct subsets to ensure unbiased evaluation:</a:t>
            </a:r>
          </a:p>
          <a:p>
            <a:pPr marL="742950" lvl="1"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Training Set (80%)</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Used to train and update the model's weights.</a:t>
            </a:r>
          </a:p>
          <a:p>
            <a:pPr marL="742950" lvl="1"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Validation Set (10%)</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Used during training to monitor performance and prevent overfitting.</a:t>
            </a:r>
          </a:p>
          <a:p>
            <a:pPr marL="742950" lvl="1"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Test Set (10%)</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 completely unseen set held back until the very end for a final, objective performance evaluation.</a:t>
            </a:r>
          </a:p>
          <a:p>
            <a:pPr marL="742950" lvl="1" indent="-285750" eaLnBrk="0" fontAlgn="base" hangingPunct="0">
              <a:spcBef>
                <a:spcPct val="0"/>
              </a:spcBef>
              <a:spcAft>
                <a:spcPct val="0"/>
              </a:spcAft>
              <a:buClrTx/>
              <a:buSzTx/>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Metrics Definition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Set up a </a:t>
            </a:r>
            <a:r>
              <a:rPr kumimoji="0" lang="en-US"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compute_metrics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function that will calculate </a:t>
            </a: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accuracy</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F1-score</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during the evaluation phases.</a:t>
            </a:r>
          </a:p>
          <a:p>
            <a:pPr marL="742950" lvl="1" indent="-285750" eaLnBrk="0" fontAlgn="base" hangingPunct="0">
              <a:spcBef>
                <a:spcPct val="0"/>
              </a:spcBef>
              <a:spcAft>
                <a:spcPct val="0"/>
              </a:spcAft>
              <a:buClrTx/>
              <a:buSzTx/>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Training Configuration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742950" lvl="1" indent="-2857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Define all hyperparameters and settings for the training process using the </a:t>
            </a:r>
            <a:r>
              <a:rPr kumimoji="0" lang="en-US"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TrainingArguments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class. This includes batch size, number of epochs, save strategy, and logging settings.</a:t>
            </a:r>
          </a:p>
          <a:p>
            <a:pPr marL="742950" lvl="1" indent="-285750" eaLnBrk="0" fontAlgn="base" hangingPunct="0">
              <a:spcBef>
                <a:spcPct val="0"/>
              </a:spcBef>
              <a:spcAft>
                <a:spcPct val="0"/>
              </a:spcAft>
              <a:buClrTx/>
              <a:buSzTx/>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Trainer Initialization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742950" lvl="1" indent="-2857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Instantiate the Trainer object, which is the core Hugging Face utility that orchestrates the entire training and evaluation process. It brings together the model, training arguments, datasets, and metrics function.</a:t>
            </a:r>
          </a:p>
          <a:p>
            <a:pPr marL="742950" lvl="1" indent="-285750" eaLnBrk="0" fontAlgn="base" hangingPunct="0">
              <a:spcBef>
                <a:spcPct val="0"/>
              </a:spcBef>
              <a:spcAft>
                <a:spcPct val="0"/>
              </a:spcAft>
              <a:buClrTx/>
              <a:buSzTx/>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Model Training</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742950" lvl="1" indent="-285750" eaLnBrk="0" fontAlgn="base" hangingPunct="0">
              <a:spcBef>
                <a:spcPct val="0"/>
              </a:spcBef>
              <a:spcAft>
                <a:spcPct val="0"/>
              </a:spcAft>
              <a:buClrTx/>
              <a:buSzTx/>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Start the fine-tuning process by calling </a:t>
            </a:r>
            <a:r>
              <a:rPr kumimoji="0" lang="en-US" altLang="en-US" sz="1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trainer.train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Trainer will handle the training loop, gradient updates, and periodic evaluation on the validation 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Final Evaluation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eaLnBrk="0" fontAlgn="base" hangingPunct="0">
              <a:spcBef>
                <a:spcPct val="0"/>
              </a:spcBef>
              <a:spcAft>
                <a:spcPct val="0"/>
              </a:spcAft>
              <a:buClrTx/>
              <a:buSzTx/>
            </a:pPr>
            <a:r>
              <a:rPr lang="en-US" sz="1600" dirty="0">
                <a:latin typeface="Calibri" panose="020F0502020204030204" pitchFamily="34" charset="0"/>
                <a:ea typeface="Calibri" panose="020F0502020204030204" pitchFamily="34" charset="0"/>
                <a:cs typeface="Calibri" panose="020F0502020204030204" pitchFamily="34" charset="0"/>
              </a:rPr>
              <a:t>After training is complete, run a final evaluation on the held-out </a:t>
            </a:r>
            <a:r>
              <a:rPr lang="en-US" sz="1600" b="1" dirty="0">
                <a:latin typeface="Calibri" panose="020F0502020204030204" pitchFamily="34" charset="0"/>
                <a:ea typeface="Calibri" panose="020F0502020204030204" pitchFamily="34" charset="0"/>
                <a:cs typeface="Calibri" panose="020F0502020204030204" pitchFamily="34" charset="0"/>
              </a:rPr>
              <a:t>test set</a:t>
            </a:r>
            <a:r>
              <a:rPr lang="en-US" sz="1600" dirty="0">
                <a:latin typeface="Calibri" panose="020F0502020204030204" pitchFamily="34" charset="0"/>
                <a:ea typeface="Calibri" panose="020F0502020204030204" pitchFamily="34" charset="0"/>
                <a:cs typeface="Calibri" panose="020F0502020204030204" pitchFamily="34" charset="0"/>
              </a:rPr>
              <a:t> to get the definitive performance metrics.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248513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D0ED93A-2EFB-609A-CDA2-E01FF25251DB}"/>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6A7A2DE-C665-0219-31F0-0485CD1EC0B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Modules</a:t>
            </a:r>
          </a:p>
        </p:txBody>
      </p:sp>
      <p:sp>
        <p:nvSpPr>
          <p:cNvPr id="4" name="Rectangle 2">
            <a:extLst>
              <a:ext uri="{FF2B5EF4-FFF2-40B4-BE49-F238E27FC236}">
                <a16:creationId xmlns:a16="http://schemas.microsoft.com/office/drawing/2014/main" id="{38092C5B-9F56-8082-99FD-EC23EC02FEFF}"/>
              </a:ext>
            </a:extLst>
          </p:cNvPr>
          <p:cNvSpPr>
            <a:spLocks noGrp="1" noChangeArrowheads="1"/>
          </p:cNvSpPr>
          <p:nvPr>
            <p:ph type="body" idx="1"/>
          </p:nvPr>
        </p:nvSpPr>
        <p:spPr bwMode="auto">
          <a:xfrm>
            <a:off x="762000" y="1051334"/>
            <a:ext cx="10668000" cy="4991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1800" b="1" dirty="0">
                <a:latin typeface="Calibri" panose="020F0502020204030204" pitchFamily="34" charset="0"/>
                <a:ea typeface="Calibri" panose="020F0502020204030204" pitchFamily="34" charset="0"/>
                <a:cs typeface="Calibri" panose="020F0502020204030204" pitchFamily="34" charset="0"/>
              </a:rPr>
              <a:t>1. Dependencies and Setup</a:t>
            </a:r>
          </a:p>
          <a:p>
            <a:pPr lvl="1"/>
            <a:r>
              <a:rPr lang="en-US" sz="1600" dirty="0">
                <a:latin typeface="Calibri" panose="020F0502020204030204" pitchFamily="34" charset="0"/>
                <a:ea typeface="Calibri" panose="020F0502020204030204" pitchFamily="34" charset="0"/>
                <a:cs typeface="Calibri" panose="020F0502020204030204" pitchFamily="34" charset="0"/>
              </a:rPr>
              <a:t>This section imports all the necessary libraries.</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os</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json</a:t>
            </a:r>
            <a:r>
              <a:rPr lang="en-US" sz="1600" dirty="0">
                <a:latin typeface="Calibri" panose="020F0502020204030204" pitchFamily="34" charset="0"/>
                <a:ea typeface="Calibri" panose="020F0502020204030204" pitchFamily="34" charset="0"/>
                <a:cs typeface="Calibri" panose="020F0502020204030204" pitchFamily="34" charset="0"/>
              </a:rPr>
              <a:t>: Standard Python libraries for interacting with the file system (e.g., listing files) and parsing JSON files.</a:t>
            </a:r>
          </a:p>
          <a:p>
            <a:pPr lvl="1"/>
            <a:r>
              <a:rPr lang="en-US" sz="1600" b="1" dirty="0">
                <a:latin typeface="Calibri" panose="020F0502020204030204" pitchFamily="34" charset="0"/>
                <a:ea typeface="Calibri" panose="020F0502020204030204" pitchFamily="34" charset="0"/>
                <a:cs typeface="Calibri" panose="020F0502020204030204" pitchFamily="34" charset="0"/>
              </a:rPr>
              <a:t>torch, </a:t>
            </a:r>
            <a:r>
              <a:rPr lang="en-US" sz="1600" b="1" dirty="0" err="1">
                <a:latin typeface="Calibri" panose="020F0502020204030204" pitchFamily="34" charset="0"/>
                <a:ea typeface="Calibri" panose="020F0502020204030204" pitchFamily="34" charset="0"/>
                <a:cs typeface="Calibri" panose="020F0502020204030204" pitchFamily="34" charset="0"/>
              </a:rPr>
              <a:t>numpy</a:t>
            </a:r>
            <a:r>
              <a:rPr lang="en-US" sz="1600" dirty="0">
                <a:latin typeface="Calibri" panose="020F0502020204030204" pitchFamily="34" charset="0"/>
                <a:ea typeface="Calibri" panose="020F0502020204030204" pitchFamily="34" charset="0"/>
                <a:cs typeface="Calibri" panose="020F0502020204030204" pitchFamily="34" charset="0"/>
              </a:rPr>
              <a:t>: Core libraries for numerical operations. </a:t>
            </a:r>
            <a:r>
              <a:rPr lang="en-US" sz="1600" dirty="0" err="1">
                <a:latin typeface="Calibri" panose="020F0502020204030204" pitchFamily="34" charset="0"/>
                <a:ea typeface="Calibri" panose="020F0502020204030204" pitchFamily="34" charset="0"/>
                <a:cs typeface="Calibri" panose="020F0502020204030204" pitchFamily="34" charset="0"/>
              </a:rPr>
              <a:t>PyTorch</a:t>
            </a:r>
            <a:r>
              <a:rPr lang="en-US" sz="1600" dirty="0">
                <a:latin typeface="Calibri" panose="020F0502020204030204" pitchFamily="34" charset="0"/>
                <a:ea typeface="Calibri" panose="020F0502020204030204" pitchFamily="34" charset="0"/>
                <a:cs typeface="Calibri" panose="020F0502020204030204" pitchFamily="34" charset="0"/>
              </a:rPr>
              <a:t> (torch) is the deep learning framework on which the Hugging Face transformers are built.</a:t>
            </a:r>
          </a:p>
          <a:p>
            <a:pPr lvl="1"/>
            <a:r>
              <a:rPr lang="en-US" sz="1600" b="1" dirty="0">
                <a:latin typeface="Calibri" panose="020F0502020204030204" pitchFamily="34" charset="0"/>
                <a:ea typeface="Calibri" panose="020F0502020204030204" pitchFamily="34" charset="0"/>
                <a:cs typeface="Calibri" panose="020F0502020204030204" pitchFamily="34" charset="0"/>
              </a:rPr>
              <a:t>transformers</a:t>
            </a:r>
            <a:r>
              <a:rPr lang="en-US" sz="1600" dirty="0">
                <a:latin typeface="Calibri" panose="020F0502020204030204" pitchFamily="34" charset="0"/>
                <a:ea typeface="Calibri" panose="020F0502020204030204" pitchFamily="34" charset="0"/>
                <a:cs typeface="Calibri" panose="020F0502020204030204" pitchFamily="34" charset="0"/>
              </a:rPr>
              <a:t>: The main Hugging Face library. It provides the </a:t>
            </a:r>
            <a:r>
              <a:rPr lang="en-US" sz="1600" dirty="0" err="1">
                <a:latin typeface="Calibri" panose="020F0502020204030204" pitchFamily="34" charset="0"/>
                <a:ea typeface="Calibri" panose="020F0502020204030204" pitchFamily="34" charset="0"/>
                <a:cs typeface="Calibri" panose="020F0502020204030204" pitchFamily="34" charset="0"/>
              </a:rPr>
              <a:t>AlbertTokenizer</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AlbertForSequenceClassification</a:t>
            </a:r>
            <a:r>
              <a:rPr lang="en-US" sz="1600" dirty="0">
                <a:latin typeface="Calibri" panose="020F0502020204030204" pitchFamily="34" charset="0"/>
                <a:ea typeface="Calibri" panose="020F0502020204030204" pitchFamily="34" charset="0"/>
                <a:cs typeface="Calibri" panose="020F0502020204030204" pitchFamily="34" charset="0"/>
              </a:rPr>
              <a:t> model, and the Trainer/</a:t>
            </a:r>
            <a:r>
              <a:rPr lang="en-US" sz="1600" dirty="0" err="1">
                <a:latin typeface="Calibri" panose="020F0502020204030204" pitchFamily="34" charset="0"/>
                <a:ea typeface="Calibri" panose="020F0502020204030204" pitchFamily="34" charset="0"/>
                <a:cs typeface="Calibri" panose="020F0502020204030204" pitchFamily="34" charset="0"/>
              </a:rPr>
              <a:t>TrainingArguments</a:t>
            </a:r>
            <a:r>
              <a:rPr lang="en-US" sz="1600" dirty="0">
                <a:latin typeface="Calibri" panose="020F0502020204030204" pitchFamily="34" charset="0"/>
                <a:ea typeface="Calibri" panose="020F0502020204030204" pitchFamily="34" charset="0"/>
                <a:cs typeface="Calibri" panose="020F0502020204030204" pitchFamily="34" charset="0"/>
              </a:rPr>
              <a:t> classes.</a:t>
            </a:r>
          </a:p>
          <a:p>
            <a:pPr lvl="1"/>
            <a:endParaRPr lang="en-US" sz="16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1800" b="1" dirty="0">
                <a:latin typeface="Calibri" panose="020F0502020204030204" pitchFamily="34" charset="0"/>
                <a:ea typeface="Calibri" panose="020F0502020204030204" pitchFamily="34" charset="0"/>
                <a:cs typeface="Calibri" panose="020F0502020204030204" pitchFamily="34" charset="0"/>
              </a:rPr>
              <a:t>2. Data Loading and Preprocessing</a:t>
            </a:r>
          </a:p>
          <a:p>
            <a:pPr lvl="1"/>
            <a:r>
              <a:rPr lang="en-US" sz="1600" dirty="0">
                <a:latin typeface="Calibri" panose="020F0502020204030204" pitchFamily="34" charset="0"/>
                <a:ea typeface="Calibri" panose="020F0502020204030204" pitchFamily="34" charset="0"/>
                <a:cs typeface="Calibri" panose="020F0502020204030204" pitchFamily="34" charset="0"/>
              </a:rPr>
              <a:t>This module is responsible for getting the raw data from disk into a usable format.</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load_style_detection_data</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b="1" dirty="0" err="1">
                <a:latin typeface="Calibri" panose="020F0502020204030204" pitchFamily="34" charset="0"/>
                <a:ea typeface="Calibri" panose="020F0502020204030204" pitchFamily="34" charset="0"/>
                <a:cs typeface="Calibri" panose="020F0502020204030204" pitchFamily="34" charset="0"/>
              </a:rPr>
              <a:t>data_dir</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truth_dir</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 This is a custom function designed specifically for your dataset's structure.</a:t>
            </a:r>
          </a:p>
          <a:p>
            <a:pPr lvl="2"/>
            <a:r>
              <a:rPr lang="en-US" sz="1400" dirty="0">
                <a:latin typeface="Calibri" panose="020F0502020204030204" pitchFamily="34" charset="0"/>
                <a:ea typeface="Calibri" panose="020F0502020204030204" pitchFamily="34" charset="0"/>
                <a:cs typeface="Calibri" panose="020F0502020204030204" pitchFamily="34" charset="0"/>
              </a:rPr>
              <a:t>It finds all JSON files in the </a:t>
            </a:r>
            <a:r>
              <a:rPr lang="en-US" sz="1400" dirty="0" err="1">
                <a:latin typeface="Calibri" panose="020F0502020204030204" pitchFamily="34" charset="0"/>
                <a:ea typeface="Calibri" panose="020F0502020204030204" pitchFamily="34" charset="0"/>
                <a:cs typeface="Calibri" panose="020F0502020204030204" pitchFamily="34" charset="0"/>
              </a:rPr>
              <a:t>truth_dir</a:t>
            </a:r>
            <a:r>
              <a:rPr lang="en-US" sz="1400" dirty="0">
                <a:latin typeface="Calibri" panose="020F0502020204030204" pitchFamily="34" charset="0"/>
                <a:ea typeface="Calibri" panose="020F0502020204030204" pitchFamily="34" charset="0"/>
                <a:cs typeface="Calibri" panose="020F0502020204030204" pitchFamily="34" charset="0"/>
              </a:rPr>
              <a:t>.</a:t>
            </a:r>
          </a:p>
          <a:p>
            <a:pPr lvl="2"/>
            <a:r>
              <a:rPr lang="en-US" sz="1400" dirty="0">
                <a:latin typeface="Calibri" panose="020F0502020204030204" pitchFamily="34" charset="0"/>
                <a:ea typeface="Calibri" panose="020F0502020204030204" pitchFamily="34" charset="0"/>
                <a:cs typeface="Calibri" panose="020F0502020204030204" pitchFamily="34" charset="0"/>
              </a:rPr>
              <a:t>For each truth file, it extracts the </a:t>
            </a:r>
            <a:r>
              <a:rPr lang="en-US" sz="1400" dirty="0" err="1">
                <a:latin typeface="Calibri" panose="020F0502020204030204" pitchFamily="34" charset="0"/>
                <a:ea typeface="Calibri" panose="020F0502020204030204" pitchFamily="34" charset="0"/>
                <a:cs typeface="Calibri" panose="020F0502020204030204" pitchFamily="34" charset="0"/>
              </a:rPr>
              <a:t>problem_id</a:t>
            </a:r>
            <a:r>
              <a:rPr lang="en-US" sz="1400" dirty="0">
                <a:latin typeface="Calibri" panose="020F0502020204030204" pitchFamily="34" charset="0"/>
                <a:ea typeface="Calibri" panose="020F0502020204030204" pitchFamily="34" charset="0"/>
                <a:cs typeface="Calibri" panose="020F0502020204030204" pitchFamily="34" charset="0"/>
              </a:rPr>
              <a:t> to locate the corresponding .txt file in the </a:t>
            </a:r>
            <a:r>
              <a:rPr lang="en-US" sz="1400" dirty="0" err="1">
                <a:latin typeface="Calibri" panose="020F0502020204030204" pitchFamily="34" charset="0"/>
                <a:ea typeface="Calibri" panose="020F0502020204030204" pitchFamily="34" charset="0"/>
                <a:cs typeface="Calibri" panose="020F0502020204030204" pitchFamily="34" charset="0"/>
              </a:rPr>
              <a:t>data_dir</a:t>
            </a:r>
            <a:r>
              <a:rPr lang="en-US" sz="1400" dirty="0">
                <a:latin typeface="Calibri" panose="020F0502020204030204" pitchFamily="34" charset="0"/>
                <a:ea typeface="Calibri" panose="020F0502020204030204" pitchFamily="34" charset="0"/>
                <a:cs typeface="Calibri" panose="020F0502020204030204" pitchFamily="34" charset="0"/>
              </a:rPr>
              <a:t>.</a:t>
            </a:r>
          </a:p>
          <a:p>
            <a:pPr lvl="2"/>
            <a:r>
              <a:rPr lang="en-US" sz="1400" dirty="0">
                <a:latin typeface="Calibri" panose="020F0502020204030204" pitchFamily="34" charset="0"/>
                <a:ea typeface="Calibri" panose="020F0502020204030204" pitchFamily="34" charset="0"/>
                <a:cs typeface="Calibri" panose="020F0502020204030204" pitchFamily="34" charset="0"/>
              </a:rPr>
              <a:t>It reads the author labels from the JSON (paragraph-authors) and the text paragraphs from the .txt file</a:t>
            </a:r>
          </a:p>
          <a:p>
            <a:pPr lvl="2"/>
            <a:endParaRPr lang="en-US" sz="1400" dirty="0">
              <a:latin typeface="Calibri" panose="020F0502020204030204" pitchFamily="34" charset="0"/>
              <a:ea typeface="Calibri" panose="020F0502020204030204" pitchFamily="34" charset="0"/>
              <a:cs typeface="Calibri" panose="020F0502020204030204" pitchFamily="34" charset="0"/>
            </a:endParaRPr>
          </a:p>
          <a:p>
            <a:pPr marL="558800" lvl="1" indent="0">
              <a:buNone/>
            </a:pP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2622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343DDC2-8FC4-CF1B-C276-DFD6C471261B}"/>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1AE9944A-F9C5-2C7A-ECEE-FF079FF1A78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Modules</a:t>
            </a:r>
          </a:p>
        </p:txBody>
      </p:sp>
      <p:sp>
        <p:nvSpPr>
          <p:cNvPr id="4" name="Rectangle 2">
            <a:extLst>
              <a:ext uri="{FF2B5EF4-FFF2-40B4-BE49-F238E27FC236}">
                <a16:creationId xmlns:a16="http://schemas.microsoft.com/office/drawing/2014/main" id="{2B58790F-AC57-F35C-B894-1789F5487736}"/>
              </a:ext>
            </a:extLst>
          </p:cNvPr>
          <p:cNvSpPr>
            <a:spLocks noGrp="1" noChangeArrowheads="1"/>
          </p:cNvSpPr>
          <p:nvPr>
            <p:ph type="body" idx="1"/>
          </p:nvPr>
        </p:nvSpPr>
        <p:spPr bwMode="auto">
          <a:xfrm>
            <a:off x="681859" y="1194685"/>
            <a:ext cx="10668000" cy="4788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3. Model and Tokenizer Initialization</a:t>
            </a:r>
          </a:p>
          <a:p>
            <a:pPr lvl="1"/>
            <a:r>
              <a:rPr lang="en-US" sz="1600" dirty="0">
                <a:latin typeface="Calibri" panose="020F0502020204030204" pitchFamily="34" charset="0"/>
                <a:ea typeface="Calibri" panose="020F0502020204030204" pitchFamily="34" charset="0"/>
                <a:cs typeface="Calibri" panose="020F0502020204030204" pitchFamily="34" charset="0"/>
              </a:rPr>
              <a:t>Here, we load the pre-trained components.</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AlbertTokenizer.from_pretrained</a:t>
            </a:r>
            <a:r>
              <a:rPr lang="en-US" sz="1600" b="1" dirty="0">
                <a:latin typeface="Calibri" panose="020F0502020204030204" pitchFamily="34" charset="0"/>
                <a:ea typeface="Calibri" panose="020F0502020204030204" pitchFamily="34" charset="0"/>
                <a:cs typeface="Calibri" panose="020F0502020204030204" pitchFamily="34" charset="0"/>
              </a:rPr>
              <a:t>('albert-base-v2')</a:t>
            </a:r>
            <a:r>
              <a:rPr lang="en-US" sz="1600" dirty="0">
                <a:latin typeface="Calibri" panose="020F0502020204030204" pitchFamily="34" charset="0"/>
                <a:ea typeface="Calibri" panose="020F0502020204030204" pitchFamily="34" charset="0"/>
                <a:cs typeface="Calibri" panose="020F0502020204030204" pitchFamily="34" charset="0"/>
              </a:rPr>
              <a:t>: Downloads the tokenizer specifically trained for the ALBERT model. The tokenizer's job is to convert raw text strings into a sequence of numerical tokens that the model can understand.</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AlbertForSequenceClassification.from_pretrained</a:t>
            </a:r>
            <a:r>
              <a:rPr lang="en-US" sz="1600" b="1" dirty="0">
                <a:latin typeface="Calibri" panose="020F0502020204030204" pitchFamily="34" charset="0"/>
                <a:ea typeface="Calibri" panose="020F0502020204030204" pitchFamily="34" charset="0"/>
                <a:cs typeface="Calibri" panose="020F0502020204030204" pitchFamily="34" charset="0"/>
              </a:rPr>
              <a:t>('albert-base-v2', </a:t>
            </a:r>
            <a:r>
              <a:rPr lang="en-US" sz="1600" b="1" dirty="0" err="1">
                <a:latin typeface="Calibri" panose="020F0502020204030204" pitchFamily="34" charset="0"/>
                <a:ea typeface="Calibri" panose="020F0502020204030204" pitchFamily="34" charset="0"/>
                <a:cs typeface="Calibri" panose="020F0502020204030204" pitchFamily="34" charset="0"/>
              </a:rPr>
              <a:t>num_labels</a:t>
            </a:r>
            <a:r>
              <a:rPr lang="en-US" sz="1600" b="1" dirty="0">
                <a:latin typeface="Calibri" panose="020F0502020204030204" pitchFamily="34" charset="0"/>
                <a:ea typeface="Calibri" panose="020F0502020204030204" pitchFamily="34" charset="0"/>
                <a:cs typeface="Calibri" panose="020F0502020204030204" pitchFamily="34" charset="0"/>
              </a:rPr>
              <a:t>=2)</a:t>
            </a:r>
          </a:p>
          <a:p>
            <a:pPr lvl="1"/>
            <a:endParaRPr lang="en-US" sz="1600" b="1"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4. Data Splitting and Tokenization</a:t>
            </a:r>
          </a:p>
          <a:p>
            <a:pPr lvl="1"/>
            <a:r>
              <a:rPr lang="en-US" sz="1600" dirty="0">
                <a:latin typeface="Calibri" panose="020F0502020204030204" pitchFamily="34" charset="0"/>
                <a:ea typeface="Calibri" panose="020F0502020204030204" pitchFamily="34" charset="0"/>
                <a:cs typeface="Calibri" panose="020F0502020204030204" pitchFamily="34" charset="0"/>
              </a:rPr>
              <a:t>This module prepares the data for the model.</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tokenize_function</a:t>
            </a:r>
            <a:r>
              <a:rPr lang="en-US" sz="1600" b="1" dirty="0">
                <a:latin typeface="Calibri" panose="020F0502020204030204" pitchFamily="34" charset="0"/>
                <a:ea typeface="Calibri" panose="020F0502020204030204" pitchFamily="34" charset="0"/>
                <a:cs typeface="Calibri" panose="020F0502020204030204" pitchFamily="34" charset="0"/>
              </a:rPr>
              <a:t>(examples)</a:t>
            </a:r>
            <a:r>
              <a:rPr lang="en-US" sz="1600" dirty="0">
                <a:latin typeface="Calibri" panose="020F0502020204030204" pitchFamily="34" charset="0"/>
                <a:ea typeface="Calibri" panose="020F0502020204030204" pitchFamily="34" charset="0"/>
                <a:cs typeface="Calibri" panose="020F0502020204030204" pitchFamily="34" charset="0"/>
              </a:rPr>
              <a:t>: A function that takes a batch of data and applies the tokenizer to the "text" field. padding="</a:t>
            </a:r>
            <a:r>
              <a:rPr lang="en-US" sz="1600" dirty="0" err="1">
                <a:latin typeface="Calibri" panose="020F0502020204030204" pitchFamily="34" charset="0"/>
                <a:ea typeface="Calibri" panose="020F0502020204030204" pitchFamily="34" charset="0"/>
                <a:cs typeface="Calibri" panose="020F0502020204030204" pitchFamily="34" charset="0"/>
              </a:rPr>
              <a:t>max_length</a:t>
            </a:r>
            <a:r>
              <a:rPr lang="en-US" sz="1600" dirty="0">
                <a:latin typeface="Calibri" panose="020F0502020204030204" pitchFamily="34" charset="0"/>
                <a:ea typeface="Calibri" panose="020F0502020204030204" pitchFamily="34" charset="0"/>
                <a:cs typeface="Calibri" panose="020F0502020204030204" pitchFamily="34" charset="0"/>
              </a:rPr>
              <a:t>" ensures that shorter sentences are padded up to a uniform length, and truncation=True cuts down longer sentences.</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real_dataset.map</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 This efficiently applies the </a:t>
            </a:r>
            <a:r>
              <a:rPr lang="en-US" sz="1600" dirty="0" err="1">
                <a:latin typeface="Calibri" panose="020F0502020204030204" pitchFamily="34" charset="0"/>
                <a:ea typeface="Calibri" panose="020F0502020204030204" pitchFamily="34" charset="0"/>
                <a:cs typeface="Calibri" panose="020F0502020204030204" pitchFamily="34" charset="0"/>
              </a:rPr>
              <a:t>tokenize_function</a:t>
            </a:r>
            <a:r>
              <a:rPr lang="en-US" sz="1600" dirty="0">
                <a:latin typeface="Calibri" panose="020F0502020204030204" pitchFamily="34" charset="0"/>
                <a:ea typeface="Calibri" panose="020F0502020204030204" pitchFamily="34" charset="0"/>
                <a:cs typeface="Calibri" panose="020F0502020204030204" pitchFamily="34" charset="0"/>
              </a:rPr>
              <a:t> to the entire dataset.</a:t>
            </a:r>
          </a:p>
          <a:p>
            <a:pPr lvl="1"/>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b="1" dirty="0" err="1">
                <a:latin typeface="Calibri" panose="020F0502020204030204" pitchFamily="34" charset="0"/>
                <a:ea typeface="Calibri" panose="020F0502020204030204" pitchFamily="34" charset="0"/>
                <a:cs typeface="Calibri" panose="020F0502020204030204" pitchFamily="34" charset="0"/>
              </a:rPr>
              <a:t>train_test_split</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 This is a powerful method from the datasets library. The code uses it in two steps to create a clean </a:t>
            </a:r>
            <a:r>
              <a:rPr lang="en-US" sz="1600" b="1" dirty="0">
                <a:latin typeface="Calibri" panose="020F0502020204030204" pitchFamily="34" charset="0"/>
                <a:ea typeface="Calibri" panose="020F0502020204030204" pitchFamily="34" charset="0"/>
                <a:cs typeface="Calibri" panose="020F0502020204030204" pitchFamily="34" charset="0"/>
              </a:rPr>
              <a:t>80/10/10 split</a:t>
            </a:r>
            <a:r>
              <a:rPr lang="en-US" sz="1600" dirty="0">
                <a:latin typeface="Calibri" panose="020F0502020204030204" pitchFamily="34" charset="0"/>
                <a:ea typeface="Calibri" panose="020F0502020204030204" pitchFamily="34" charset="0"/>
                <a:cs typeface="Calibri" panose="020F0502020204030204" pitchFamily="34" charset="0"/>
              </a:rPr>
              <a:t> for training, validation, and testing. This is a critical practice for reliable model evaluation.</a:t>
            </a: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4169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CB329B7-5B68-5BAB-1D8E-640F3843EA3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5CA46C8-B405-FB26-9BE7-2D1CD7BEAF0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Modules</a:t>
            </a:r>
          </a:p>
        </p:txBody>
      </p:sp>
      <p:sp>
        <p:nvSpPr>
          <p:cNvPr id="4" name="Rectangle 2">
            <a:extLst>
              <a:ext uri="{FF2B5EF4-FFF2-40B4-BE49-F238E27FC236}">
                <a16:creationId xmlns:a16="http://schemas.microsoft.com/office/drawing/2014/main" id="{D98465FE-ABDA-BA71-BDD0-92C77124195A}"/>
              </a:ext>
            </a:extLst>
          </p:cNvPr>
          <p:cNvSpPr>
            <a:spLocks noGrp="1" noChangeArrowheads="1"/>
          </p:cNvSpPr>
          <p:nvPr>
            <p:ph type="body" idx="1"/>
          </p:nvPr>
        </p:nvSpPr>
        <p:spPr bwMode="auto">
          <a:xfrm>
            <a:off x="660839" y="1124154"/>
            <a:ext cx="10668000" cy="4929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5. Metrics and Evaluation</a:t>
            </a:r>
          </a:p>
          <a:p>
            <a:pPr lvl="1"/>
            <a:r>
              <a:rPr lang="en-US" sz="1600" dirty="0">
                <a:latin typeface="Calibri" panose="020F0502020204030204" pitchFamily="34" charset="0"/>
                <a:ea typeface="Calibri" panose="020F0502020204030204" pitchFamily="34" charset="0"/>
                <a:cs typeface="Calibri" panose="020F0502020204030204" pitchFamily="34" charset="0"/>
              </a:rPr>
              <a:t>This section defines how the model's performance will be measured.</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evaluate.load</a:t>
            </a:r>
            <a:r>
              <a:rPr lang="en-US" sz="1600" b="1" dirty="0">
                <a:latin typeface="Calibri" panose="020F0502020204030204" pitchFamily="34" charset="0"/>
                <a:ea typeface="Calibri" panose="020F0502020204030204" pitchFamily="34" charset="0"/>
                <a:cs typeface="Calibri" panose="020F0502020204030204" pitchFamily="34" charset="0"/>
              </a:rPr>
              <a:t>("accuracy") / </a:t>
            </a:r>
            <a:r>
              <a:rPr lang="en-US" sz="1600" b="1" dirty="0" err="1">
                <a:latin typeface="Calibri" panose="020F0502020204030204" pitchFamily="34" charset="0"/>
                <a:ea typeface="Calibri" panose="020F0502020204030204" pitchFamily="34" charset="0"/>
                <a:cs typeface="Calibri" panose="020F0502020204030204" pitchFamily="34" charset="0"/>
              </a:rPr>
              <a:t>evaluate.load</a:t>
            </a:r>
            <a:r>
              <a:rPr lang="en-US" sz="1600" b="1" dirty="0">
                <a:latin typeface="Calibri" panose="020F0502020204030204" pitchFamily="34" charset="0"/>
                <a:ea typeface="Calibri" panose="020F0502020204030204" pitchFamily="34" charset="0"/>
                <a:cs typeface="Calibri" panose="020F0502020204030204" pitchFamily="34" charset="0"/>
              </a:rPr>
              <a:t>("f1")</a:t>
            </a:r>
            <a:r>
              <a:rPr lang="en-US" sz="1600" dirty="0">
                <a:latin typeface="Calibri" panose="020F0502020204030204" pitchFamily="34" charset="0"/>
                <a:ea typeface="Calibri" panose="020F0502020204030204" pitchFamily="34" charset="0"/>
                <a:cs typeface="Calibri" panose="020F0502020204030204" pitchFamily="34" charset="0"/>
              </a:rPr>
              <a:t>: These lines load the standard computation logic for accuracy and F1-score.</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compute_metrics</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b="1" dirty="0" err="1">
                <a:latin typeface="Calibri" panose="020F0502020204030204" pitchFamily="34" charset="0"/>
                <a:ea typeface="Calibri" panose="020F0502020204030204" pitchFamily="34" charset="0"/>
                <a:cs typeface="Calibri" panose="020F0502020204030204" pitchFamily="34" charset="0"/>
              </a:rPr>
              <a:t>eval_pred</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 This function is called by the Trainer at the end of each evaluation run.</a:t>
            </a:r>
          </a:p>
          <a:p>
            <a:pPr lvl="1"/>
            <a:r>
              <a:rPr lang="en-US" sz="1600" dirty="0">
                <a:latin typeface="Calibri" panose="020F0502020204030204" pitchFamily="34" charset="0"/>
                <a:ea typeface="Calibri" panose="020F0502020204030204" pitchFamily="34" charset="0"/>
                <a:cs typeface="Calibri" panose="020F0502020204030204" pitchFamily="34" charset="0"/>
              </a:rPr>
              <a:t>It receives the model's outputs (logits) and the true </a:t>
            </a:r>
            <a:r>
              <a:rPr lang="en-US" sz="1600" dirty="0" err="1">
                <a:latin typeface="Calibri" panose="020F0502020204030204" pitchFamily="34" charset="0"/>
                <a:ea typeface="Calibri" panose="020F0502020204030204" pitchFamily="34" charset="0"/>
                <a:cs typeface="Calibri" panose="020F0502020204030204" pitchFamily="34" charset="0"/>
              </a:rPr>
              <a:t>labels.np.argmax</a:t>
            </a:r>
            <a:r>
              <a:rPr lang="en-US" sz="1600" dirty="0">
                <a:latin typeface="Calibri" panose="020F0502020204030204" pitchFamily="34" charset="0"/>
                <a:ea typeface="Calibri" panose="020F0502020204030204" pitchFamily="34" charset="0"/>
                <a:cs typeface="Calibri" panose="020F0502020204030204" pitchFamily="34" charset="0"/>
              </a:rPr>
              <a:t>(logits, axis=-1) converts the raw logit scores into the final predicted class (0 or 1).</a:t>
            </a:r>
          </a:p>
          <a:p>
            <a:pPr lvl="1"/>
            <a:endParaRPr lang="en-US" sz="16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2000" b="1" dirty="0">
                <a:latin typeface="Calibri" panose="020F0502020204030204" pitchFamily="34" charset="0"/>
                <a:ea typeface="Calibri" panose="020F0502020204030204" pitchFamily="34" charset="0"/>
                <a:cs typeface="Calibri" panose="020F0502020204030204" pitchFamily="34" charset="0"/>
              </a:rPr>
              <a:t>6. Training Configuration and Execution</a:t>
            </a:r>
          </a:p>
          <a:p>
            <a:pPr lvl="1"/>
            <a:r>
              <a:rPr lang="en-US" sz="1600" dirty="0">
                <a:latin typeface="Calibri" panose="020F0502020204030204" pitchFamily="34" charset="0"/>
                <a:ea typeface="Calibri" panose="020F0502020204030204" pitchFamily="34" charset="0"/>
                <a:cs typeface="Calibri" panose="020F0502020204030204" pitchFamily="34" charset="0"/>
              </a:rPr>
              <a:t>This is the control center for the training process.</a:t>
            </a:r>
          </a:p>
          <a:p>
            <a:pPr lvl="1"/>
            <a:r>
              <a:rPr lang="en-US" sz="1600" b="1" dirty="0" err="1">
                <a:latin typeface="Calibri" panose="020F0502020204030204" pitchFamily="34" charset="0"/>
                <a:ea typeface="Calibri" panose="020F0502020204030204" pitchFamily="34" charset="0"/>
                <a:cs typeface="Calibri" panose="020F0502020204030204" pitchFamily="34" charset="0"/>
              </a:rPr>
              <a:t>TrainingArguments</a:t>
            </a:r>
            <a:r>
              <a:rPr lang="en-US" sz="1600" b="1"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 This class collects dozens of settings. The key ones used here are:</a:t>
            </a:r>
          </a:p>
          <a:p>
            <a:pPr lvl="2"/>
            <a:r>
              <a:rPr lang="en-US" sz="1600" dirty="0" err="1">
                <a:latin typeface="Calibri" panose="020F0502020204030204" pitchFamily="34" charset="0"/>
                <a:ea typeface="Calibri" panose="020F0502020204030204" pitchFamily="34" charset="0"/>
                <a:cs typeface="Calibri" panose="020F0502020204030204" pitchFamily="34" charset="0"/>
              </a:rPr>
              <a:t>output_dir</a:t>
            </a:r>
            <a:r>
              <a:rPr lang="en-US" sz="1600" dirty="0">
                <a:latin typeface="Calibri" panose="020F0502020204030204" pitchFamily="34" charset="0"/>
                <a:ea typeface="Calibri" panose="020F0502020204030204" pitchFamily="34" charset="0"/>
                <a:cs typeface="Calibri" panose="020F0502020204030204" pitchFamily="34" charset="0"/>
              </a:rPr>
              <a:t>: Specifies where to save checkpoints and the final model.</a:t>
            </a:r>
          </a:p>
          <a:p>
            <a:pPr lvl="2"/>
            <a:r>
              <a:rPr lang="en-US" sz="1600" dirty="0" err="1">
                <a:latin typeface="Calibri" panose="020F0502020204030204" pitchFamily="34" charset="0"/>
                <a:ea typeface="Calibri" panose="020F0502020204030204" pitchFamily="34" charset="0"/>
                <a:cs typeface="Calibri" panose="020F0502020204030204" pitchFamily="34" charset="0"/>
              </a:rPr>
              <a:t>per_device_train_batch_size</a:t>
            </a:r>
            <a:r>
              <a:rPr lang="en-US" sz="1600" dirty="0">
                <a:latin typeface="Calibri" panose="020F0502020204030204" pitchFamily="34" charset="0"/>
                <a:ea typeface="Calibri" panose="020F0502020204030204" pitchFamily="34" charset="0"/>
                <a:cs typeface="Calibri" panose="020F0502020204030204" pitchFamily="34" charset="0"/>
              </a:rPr>
              <a:t>: Sets the number of samples processed in each training step.</a:t>
            </a:r>
          </a:p>
          <a:p>
            <a:pPr lvl="2"/>
            <a:r>
              <a:rPr lang="en-US" sz="1600" dirty="0" err="1">
                <a:latin typeface="Calibri" panose="020F0502020204030204" pitchFamily="34" charset="0"/>
                <a:ea typeface="Calibri" panose="020F0502020204030204" pitchFamily="34" charset="0"/>
                <a:cs typeface="Calibri" panose="020F0502020204030204" pitchFamily="34" charset="0"/>
              </a:rPr>
              <a:t>num_train_epochs</a:t>
            </a:r>
            <a:r>
              <a:rPr lang="en-US" sz="1600" dirty="0">
                <a:latin typeface="Calibri" panose="020F0502020204030204" pitchFamily="34" charset="0"/>
                <a:ea typeface="Calibri" panose="020F0502020204030204" pitchFamily="34" charset="0"/>
                <a:cs typeface="Calibri" panose="020F0502020204030204" pitchFamily="34" charset="0"/>
              </a:rPr>
              <a:t>: Defines how many times the model will see the entire training dataset.</a:t>
            </a:r>
          </a:p>
          <a:p>
            <a:pPr lvl="2"/>
            <a:r>
              <a:rPr lang="en-US" sz="1600" dirty="0" err="1">
                <a:latin typeface="Calibri" panose="020F0502020204030204" pitchFamily="34" charset="0"/>
                <a:ea typeface="Calibri" panose="020F0502020204030204" pitchFamily="34" charset="0"/>
                <a:cs typeface="Calibri" panose="020F0502020204030204" pitchFamily="34" charset="0"/>
              </a:rPr>
              <a:t>save_strategy</a:t>
            </a:r>
            <a:r>
              <a:rPr lang="en-US" sz="1600" dirty="0">
                <a:latin typeface="Calibri" panose="020F0502020204030204" pitchFamily="34" charset="0"/>
                <a:ea typeface="Calibri" panose="020F0502020204030204" pitchFamily="34" charset="0"/>
                <a:cs typeface="Calibri" panose="020F0502020204030204" pitchFamily="34" charset="0"/>
              </a:rPr>
              <a:t>="epoch": Tells the Trainer to save a model checkpoint at the end of every epoch.</a:t>
            </a:r>
          </a:p>
          <a:p>
            <a:pPr marL="558800" lvl="1"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0173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7" name="Picture 6" descr="A graph with a bar chart&#10;&#10;AI-generated content may be incorrect.">
            <a:extLst>
              <a:ext uri="{FF2B5EF4-FFF2-40B4-BE49-F238E27FC236}">
                <a16:creationId xmlns:a16="http://schemas.microsoft.com/office/drawing/2014/main" id="{DD7BD353-D666-B442-A07E-89273BECA49D}"/>
              </a:ext>
            </a:extLst>
          </p:cNvPr>
          <p:cNvPicPr>
            <a:picLocks noChangeAspect="1"/>
          </p:cNvPicPr>
          <p:nvPr/>
        </p:nvPicPr>
        <p:blipFill>
          <a:blip r:embed="rId3"/>
          <a:srcRect l="-397" t="567" r="397" b="6575"/>
          <a:stretch>
            <a:fillRect/>
          </a:stretch>
        </p:blipFill>
        <p:spPr>
          <a:xfrm>
            <a:off x="812800" y="2432430"/>
            <a:ext cx="10584000" cy="187200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0" indent="0">
              <a:buNone/>
            </a:pPr>
            <a:r>
              <a:rPr lang="en-US" sz="2000" dirty="0">
                <a:latin typeface="Cambria" panose="02040503050406030204" pitchFamily="18" charset="0"/>
                <a:ea typeface="Cambria" panose="02040503050406030204" pitchFamily="18" charset="0"/>
              </a:rPr>
              <a:t>[1] Shams </a:t>
            </a:r>
            <a:r>
              <a:rPr lang="en-US" sz="2000" dirty="0" err="1">
                <a:latin typeface="Cambria" panose="02040503050406030204" pitchFamily="18" charset="0"/>
                <a:ea typeface="Cambria" panose="02040503050406030204" pitchFamily="18" charset="0"/>
              </a:rPr>
              <a:t>Alshamasi</a:t>
            </a:r>
            <a:r>
              <a:rPr lang="en-US" sz="2000" dirty="0">
                <a:latin typeface="Cambria" panose="02040503050406030204" pitchFamily="18" charset="0"/>
                <a:ea typeface="Cambria" panose="02040503050406030204" pitchFamily="18" charset="0"/>
              </a:rPr>
              <a:t>, Mohamed Menai, Ensemble-Based Clustering for Writing Style Change Detection in Multi-Authored Textual Documents. In Guglielmo Faggioli, Nicola Ferro, Allan Hanbury, and Martin Potthast, editors, </a:t>
            </a:r>
            <a:r>
              <a:rPr lang="en-US" sz="2000" i="1" dirty="0">
                <a:latin typeface="Cambria" panose="02040503050406030204" pitchFamily="18" charset="0"/>
                <a:ea typeface="Cambria" panose="02040503050406030204" pitchFamily="18" charset="0"/>
              </a:rPr>
              <a:t>CLEF 2022 Labs and Workshops, Notebook Papers</a:t>
            </a:r>
            <a:r>
              <a:rPr lang="en-US" sz="2000" dirty="0">
                <a:latin typeface="Cambria" panose="02040503050406030204" pitchFamily="18" charset="0"/>
                <a:ea typeface="Cambria" panose="02040503050406030204" pitchFamily="18" charset="0"/>
              </a:rPr>
              <a:t>, September 2022. CEUR-WS.org</a:t>
            </a:r>
          </a:p>
          <a:p>
            <a:pPr marL="0" indent="0">
              <a:buNone/>
            </a:pPr>
            <a:endParaRPr lang="en-US"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[2] </a:t>
            </a:r>
            <a:r>
              <a:rPr lang="en-US" sz="2000" dirty="0" err="1">
                <a:latin typeface="Cambria" panose="02040503050406030204" pitchFamily="18" charset="0"/>
                <a:ea typeface="Cambria" panose="02040503050406030204" pitchFamily="18" charset="0"/>
              </a:rPr>
              <a:t>Qidi</a:t>
            </a:r>
            <a:r>
              <a:rPr lang="en-US" sz="2000" dirty="0">
                <a:latin typeface="Cambria" panose="02040503050406030204" pitchFamily="18" charset="0"/>
                <a:ea typeface="Cambria" panose="02040503050406030204" pitchFamily="18" charset="0"/>
              </a:rPr>
              <a:t> Lao, Li Ma, </a:t>
            </a:r>
            <a:r>
              <a:rPr lang="en-US" sz="2000" dirty="0" err="1">
                <a:latin typeface="Cambria" panose="02040503050406030204" pitchFamily="18" charset="0"/>
                <a:ea typeface="Cambria" panose="02040503050406030204" pitchFamily="18" charset="0"/>
              </a:rPr>
              <a:t>Wenyin</a:t>
            </a:r>
            <a:r>
              <a:rPr lang="en-US" sz="2000" dirty="0">
                <a:latin typeface="Cambria" panose="02040503050406030204" pitchFamily="18" charset="0"/>
                <a:ea typeface="Cambria" panose="02040503050406030204" pitchFamily="18" charset="0"/>
              </a:rPr>
              <a:t> Yang, </a:t>
            </a:r>
            <a:r>
              <a:rPr lang="en-US" sz="2000" dirty="0" err="1">
                <a:latin typeface="Cambria" panose="02040503050406030204" pitchFamily="18" charset="0"/>
                <a:ea typeface="Cambria" panose="02040503050406030204" pitchFamily="18" charset="0"/>
              </a:rPr>
              <a:t>Zexian</a:t>
            </a:r>
            <a:r>
              <a:rPr lang="en-US" sz="2000" dirty="0">
                <a:latin typeface="Cambria" panose="02040503050406030204" pitchFamily="18" charset="0"/>
                <a:ea typeface="Cambria" panose="02040503050406030204" pitchFamily="18" charset="0"/>
              </a:rPr>
              <a:t> Yang, Dong Yuan, </a:t>
            </a:r>
            <a:r>
              <a:rPr lang="en-US" sz="2000" dirty="0" err="1">
                <a:latin typeface="Cambria" panose="02040503050406030204" pitchFamily="18" charset="0"/>
                <a:ea typeface="Cambria" panose="02040503050406030204" pitchFamily="18" charset="0"/>
              </a:rPr>
              <a:t>Zhenlin</a:t>
            </a:r>
            <a:r>
              <a:rPr lang="en-US" sz="2000" dirty="0">
                <a:latin typeface="Cambria" panose="02040503050406030204" pitchFamily="18" charset="0"/>
                <a:ea typeface="Cambria" panose="02040503050406030204" pitchFamily="18" charset="0"/>
              </a:rPr>
              <a:t> Tan, and </a:t>
            </a:r>
            <a:r>
              <a:rPr lang="en-US" sz="2000" dirty="0" err="1">
                <a:latin typeface="Cambria" panose="02040503050406030204" pitchFamily="18" charset="0"/>
                <a:ea typeface="Cambria" panose="02040503050406030204" pitchFamily="18" charset="0"/>
              </a:rPr>
              <a:t>Langzhang</a:t>
            </a:r>
            <a:r>
              <a:rPr lang="en-US" sz="2000" dirty="0">
                <a:latin typeface="Cambria" panose="02040503050406030204" pitchFamily="18" charset="0"/>
                <a:ea typeface="Cambria" panose="02040503050406030204" pitchFamily="18" charset="0"/>
              </a:rPr>
              <a:t> Liang, Style Change Detection Based On Bert And Conv1d. In Guglielmo Faggioli, Nicola Ferro, Allan Hanbury, and Martin Potthast, editors, </a:t>
            </a:r>
            <a:r>
              <a:rPr lang="en-US" sz="2000" i="1" dirty="0">
                <a:latin typeface="Cambria" panose="02040503050406030204" pitchFamily="18" charset="0"/>
                <a:ea typeface="Cambria" panose="02040503050406030204" pitchFamily="18" charset="0"/>
              </a:rPr>
              <a:t>CLEF 2022 Labs and Workshops, Notebook Papers</a:t>
            </a:r>
            <a:r>
              <a:rPr lang="en-US" sz="2000" dirty="0">
                <a:latin typeface="Cambria" panose="02040503050406030204" pitchFamily="18" charset="0"/>
                <a:ea typeface="Cambria" panose="02040503050406030204" pitchFamily="18" charset="0"/>
              </a:rPr>
              <a:t>, September 2022. CEUR-WS.org</a:t>
            </a:r>
          </a:p>
          <a:p>
            <a:pPr marL="0" indent="0">
              <a:buNone/>
            </a:pPr>
            <a:endParaRPr lang="en-US"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[3] </a:t>
            </a:r>
            <a:r>
              <a:rPr lang="en-US" sz="2000" dirty="0" err="1">
                <a:latin typeface="Cambria" panose="02040503050406030204" pitchFamily="18" charset="0"/>
                <a:ea typeface="Cambria" panose="02040503050406030204" pitchFamily="18" charset="0"/>
              </a:rPr>
              <a:t>Zhijie</a:t>
            </a:r>
            <a:r>
              <a:rPr lang="en-US" sz="2000" dirty="0">
                <a:latin typeface="Cambria" panose="02040503050406030204" pitchFamily="18" charset="0"/>
                <a:ea typeface="Cambria" panose="02040503050406030204" pitchFamily="18" charset="0"/>
              </a:rPr>
              <a:t> Zhang </a:t>
            </a:r>
            <a:r>
              <a:rPr lang="en-US" sz="2000" dirty="0" err="1">
                <a:latin typeface="Cambria" panose="02040503050406030204" pitchFamily="18" charset="0"/>
                <a:ea typeface="Cambria" panose="02040503050406030204" pitchFamily="18" charset="0"/>
              </a:rPr>
              <a:t>Xinyin</a:t>
            </a:r>
            <a:r>
              <a:rPr lang="en-US" sz="2000" dirty="0">
                <a:latin typeface="Cambria" panose="02040503050406030204" pitchFamily="18" charset="0"/>
                <a:ea typeface="Cambria" panose="02040503050406030204" pitchFamily="18" charset="0"/>
              </a:rPr>
              <a:t> Jiang and </a:t>
            </a:r>
            <a:r>
              <a:rPr lang="en-US" sz="2000" dirty="0" err="1">
                <a:latin typeface="Cambria" panose="02040503050406030204" pitchFamily="18" charset="0"/>
                <a:ea typeface="Cambria" panose="02040503050406030204" pitchFamily="18" charset="0"/>
              </a:rPr>
              <a:t>Mingjie</a:t>
            </a:r>
            <a:r>
              <a:rPr lang="en-US" sz="2000" dirty="0">
                <a:latin typeface="Cambria" panose="02040503050406030204" pitchFamily="18" charset="0"/>
                <a:ea typeface="Cambria" panose="02040503050406030204" pitchFamily="18" charset="0"/>
              </a:rPr>
              <a:t> Huang, Style Change Detection: Method Based On Pre-trained Model And Similarity Recognition, In Guglielmo Faggioli, Nicola Ferro, Allan Hanbury, and Martin Potthast, editors, </a:t>
            </a:r>
            <a:r>
              <a:rPr lang="en-US" sz="2000" i="1" dirty="0">
                <a:latin typeface="Cambria" panose="02040503050406030204" pitchFamily="18" charset="0"/>
                <a:ea typeface="Cambria" panose="02040503050406030204" pitchFamily="18" charset="0"/>
              </a:rPr>
              <a:t>CLEF 2022 Labs and Workshops, Notebook Papers</a:t>
            </a:r>
            <a:r>
              <a:rPr lang="en-US" sz="2000" dirty="0">
                <a:latin typeface="Cambria" panose="02040503050406030204" pitchFamily="18" charset="0"/>
                <a:ea typeface="Cambria" panose="02040503050406030204" pitchFamily="18" charset="0"/>
              </a:rPr>
              <a:t>, September 2022. CEUR-WS.org.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C6EFA28-4759-FE29-4976-00F6376D90ED}"/>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386A3AD6-C4F9-F189-8A0C-4C135D1E71D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4ECE3CA7-AA5B-B60C-B684-2A564000CA77}"/>
              </a:ext>
            </a:extLst>
          </p:cNvPr>
          <p:cNvSpPr txBox="1">
            <a:spLocks noGrp="1"/>
          </p:cNvSpPr>
          <p:nvPr>
            <p:ph type="body" idx="1"/>
          </p:nvPr>
        </p:nvSpPr>
        <p:spPr>
          <a:xfrm>
            <a:off x="812800" y="1079939"/>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0" indent="0">
              <a:buNone/>
            </a:pPr>
            <a:r>
              <a:rPr lang="en-US" dirty="0">
                <a:latin typeface="Cambria" panose="02040503050406030204" pitchFamily="18" charset="0"/>
                <a:ea typeface="Cambria" panose="02040503050406030204" pitchFamily="18" charset="0"/>
              </a:rPr>
              <a:t>[4] Carlos A. Rodríguez-Losada and Daniel Castro-Castro, Three Style Similarity: sentence-embedding, auxiliary words, punctuation. In Guglielmo Faggioli, Nicola Ferro, Allan Hanbury, and Martin Potthast, editors, </a:t>
            </a:r>
            <a:r>
              <a:rPr lang="en-US" i="1" dirty="0">
                <a:latin typeface="Cambria" panose="02040503050406030204" pitchFamily="18" charset="0"/>
                <a:ea typeface="Cambria" panose="02040503050406030204" pitchFamily="18" charset="0"/>
              </a:rPr>
              <a:t>CLEF 2022 Labs and Workshops, Notebook Papers</a:t>
            </a:r>
            <a:r>
              <a:rPr lang="en-US" dirty="0">
                <a:latin typeface="Cambria" panose="02040503050406030204" pitchFamily="18" charset="0"/>
                <a:ea typeface="Cambria" panose="02040503050406030204" pitchFamily="18" charset="0"/>
              </a:rPr>
              <a:t>, September 2022. CEUR-WS.org.</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[5] Tzu-Mi Lin, Chao-Yi Chen, Yu-Wen Tzeng, and Lung-Hao Lee. Ensemble Pre-trained Transformer Models for Writing Style Change Detection. In Guglielmo Faggioli, Nicola Ferro, Allan Hanbury, and Martin Potthast, editors, </a:t>
            </a:r>
            <a:r>
              <a:rPr lang="en-US" i="1" dirty="0">
                <a:latin typeface="Cambria" panose="02040503050406030204" pitchFamily="18" charset="0"/>
                <a:ea typeface="Cambria" panose="02040503050406030204" pitchFamily="18" charset="0"/>
              </a:rPr>
              <a:t>CLEF 2022 Labs and Workshops, Notebook Papers</a:t>
            </a:r>
            <a:r>
              <a:rPr lang="en-US" dirty="0">
                <a:latin typeface="Cambria" panose="02040503050406030204" pitchFamily="18" charset="0"/>
                <a:ea typeface="Cambria" panose="02040503050406030204" pitchFamily="18" charset="0"/>
              </a:rPr>
              <a:t>, September 2022. CEUR-WS.org.</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[6] Hasan </a:t>
            </a:r>
            <a:r>
              <a:rPr lang="en-US" dirty="0" err="1">
                <a:latin typeface="Cambria" panose="02040503050406030204" pitchFamily="18" charset="0"/>
                <a:ea typeface="Cambria" panose="02040503050406030204" pitchFamily="18" charset="0"/>
              </a:rPr>
              <a:t>Algafri</a:t>
            </a:r>
            <a:r>
              <a:rPr lang="en-US" dirty="0">
                <a:latin typeface="Cambria" panose="02040503050406030204" pitchFamily="18" charset="0"/>
                <a:ea typeface="Cambria" panose="02040503050406030204" pitchFamily="18" charset="0"/>
              </a:rPr>
              <a:t> Faisal Alvi and Naif Alqahtani, Style Change Detection using Discourse Markers. In Guglielmo Faggioli, Nicola Ferro, Allan Hanbury, and Martin Potthast, editors, </a:t>
            </a:r>
            <a:r>
              <a:rPr lang="en-US" i="1" dirty="0">
                <a:latin typeface="Cambria" panose="02040503050406030204" pitchFamily="18" charset="0"/>
                <a:ea typeface="Cambria" panose="02040503050406030204" pitchFamily="18" charset="0"/>
              </a:rPr>
              <a:t>CLEF 2022 Labs and Workshops, Notebook Papers</a:t>
            </a:r>
            <a:r>
              <a:rPr lang="en-US" dirty="0">
                <a:latin typeface="Cambria" panose="02040503050406030204" pitchFamily="18" charset="0"/>
                <a:ea typeface="Cambria" panose="02040503050406030204" pitchFamily="18" charset="0"/>
              </a:rPr>
              <a:t>, September 2022. CEUR-WS.org.</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[7] Sukanya Nath, Style change detection using Siamese neural networks—Notebook for PAN at CLEF 2021. In Guglielmo Faggioli et al., editors, </a:t>
            </a:r>
            <a:r>
              <a:rPr lang="en-US" i="1" dirty="0">
                <a:latin typeface="Cambria" panose="02040503050406030204" pitchFamily="18" charset="0"/>
                <a:ea typeface="Cambria" panose="02040503050406030204" pitchFamily="18" charset="0"/>
              </a:rPr>
              <a:t>CLEF 2021 Labs and Workshops, Notebook Papers</a:t>
            </a:r>
            <a:r>
              <a:rPr lang="en-US" dirty="0">
                <a:latin typeface="Cambria" panose="02040503050406030204" pitchFamily="18" charset="0"/>
                <a:ea typeface="Cambria" panose="02040503050406030204" pitchFamily="18" charset="0"/>
              </a:rPr>
              <a:t>, September 2021. CEUR-WS.org.</a:t>
            </a:r>
          </a:p>
          <a:p>
            <a:pPr marL="0"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50281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2E14EE9-F66C-E54D-923A-764914A0C7A7}"/>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D8471EDD-1DBF-46C5-B1D6-A64F35A068E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C4B7C003-732A-D3B9-96FC-39EF41CABE2D}"/>
              </a:ext>
            </a:extLst>
          </p:cNvPr>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0" indent="0">
              <a:buNone/>
            </a:pPr>
            <a:r>
              <a:rPr lang="en-US" dirty="0">
                <a:latin typeface="Cambria" panose="02040503050406030204" pitchFamily="18" charset="0"/>
                <a:ea typeface="Cambria" panose="02040503050406030204" pitchFamily="18" charset="0"/>
              </a:rPr>
              <a:t>[8] Robert Deibel and Denise </a:t>
            </a:r>
            <a:r>
              <a:rPr lang="en-US" dirty="0" err="1">
                <a:latin typeface="Cambria" panose="02040503050406030204" pitchFamily="18" charset="0"/>
                <a:ea typeface="Cambria" panose="02040503050406030204" pitchFamily="18" charset="0"/>
              </a:rPr>
              <a:t>Löfflad</a:t>
            </a:r>
            <a:r>
              <a:rPr lang="en-US" dirty="0">
                <a:latin typeface="Cambria" panose="02040503050406030204" pitchFamily="18" charset="0"/>
                <a:ea typeface="Cambria" panose="02040503050406030204" pitchFamily="18" charset="0"/>
              </a:rPr>
              <a:t>, Style Change Detection on Real-World Data using an LSTM-powered Attribution Algorithm—Notebook for PAN at CLEF 2021. In Guglielmo Faggioli et al., editors, </a:t>
            </a:r>
            <a:r>
              <a:rPr lang="en-US" i="1" dirty="0">
                <a:latin typeface="Cambria" panose="02040503050406030204" pitchFamily="18" charset="0"/>
                <a:ea typeface="Cambria" panose="02040503050406030204" pitchFamily="18" charset="0"/>
              </a:rPr>
              <a:t>CLEF 2021 Labs and Workshops, Notebook Papers</a:t>
            </a:r>
            <a:r>
              <a:rPr lang="en-US" dirty="0">
                <a:latin typeface="Cambria" panose="02040503050406030204" pitchFamily="18" charset="0"/>
                <a:ea typeface="Cambria" panose="02040503050406030204" pitchFamily="18" charset="0"/>
              </a:rPr>
              <a:t>, September 2021. CEUR-WS.org.</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[9] Rhia Singh, Janith Weerasinghe, and Rachel </a:t>
            </a:r>
            <a:r>
              <a:rPr lang="en-US" dirty="0" err="1">
                <a:latin typeface="Cambria" panose="02040503050406030204" pitchFamily="18" charset="0"/>
                <a:ea typeface="Cambria" panose="02040503050406030204" pitchFamily="18" charset="0"/>
              </a:rPr>
              <a:t>Greenstadt</a:t>
            </a:r>
            <a:r>
              <a:rPr lang="en-US" dirty="0">
                <a:latin typeface="Cambria" panose="02040503050406030204" pitchFamily="18" charset="0"/>
                <a:ea typeface="Cambria" panose="02040503050406030204" pitchFamily="18" charset="0"/>
              </a:rPr>
              <a:t>. Writing Style Change Detection on Multi-Author Documents—Notebook for PAN at CLEF 2021. In Guglielmo Faggioli et al., editors, </a:t>
            </a:r>
            <a:r>
              <a:rPr lang="en-US" i="1" dirty="0">
                <a:latin typeface="Cambria" panose="02040503050406030204" pitchFamily="18" charset="0"/>
                <a:ea typeface="Cambria" panose="02040503050406030204" pitchFamily="18" charset="0"/>
              </a:rPr>
              <a:t>CLEF 2021 Labs and Workshops, Notebook Papers</a:t>
            </a:r>
            <a:r>
              <a:rPr lang="en-US" dirty="0">
                <a:latin typeface="Cambria" panose="02040503050406030204" pitchFamily="18" charset="0"/>
                <a:ea typeface="Cambria" panose="02040503050406030204" pitchFamily="18" charset="0"/>
              </a:rPr>
              <a:t>, September 2021. CEUR-WS.org.</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[10] Daniel Castro-Castro, Carlos Alberto Rodríguez-Losada, and Rafael Muñoz, Mixed Style Feature Representation and B0-maximal Clustering for Style Change Detection—Notebook for PAN at CLEF 2020. In Linda </a:t>
            </a:r>
            <a:r>
              <a:rPr lang="en-US" dirty="0" err="1">
                <a:latin typeface="Cambria" panose="02040503050406030204" pitchFamily="18" charset="0"/>
                <a:ea typeface="Cambria" panose="02040503050406030204" pitchFamily="18" charset="0"/>
              </a:rPr>
              <a:t>Cappellato</a:t>
            </a:r>
            <a:r>
              <a:rPr lang="en-US" dirty="0">
                <a:latin typeface="Cambria" panose="02040503050406030204" pitchFamily="18" charset="0"/>
                <a:ea typeface="Cambria" panose="02040503050406030204" pitchFamily="18" charset="0"/>
              </a:rPr>
              <a:t>, Carsten Eickhoff, Nicola Ferro, and Aurélie </a:t>
            </a:r>
            <a:r>
              <a:rPr lang="en-US" dirty="0" err="1">
                <a:latin typeface="Cambria" panose="02040503050406030204" pitchFamily="18" charset="0"/>
                <a:ea typeface="Cambria" panose="02040503050406030204" pitchFamily="18" charset="0"/>
              </a:rPr>
              <a:t>Névéol</a:t>
            </a:r>
            <a:r>
              <a:rPr lang="en-US" dirty="0">
                <a:latin typeface="Cambria" panose="02040503050406030204" pitchFamily="18" charset="0"/>
                <a:ea typeface="Cambria" panose="02040503050406030204" pitchFamily="18" charset="0"/>
              </a:rPr>
              <a:t>, editors, </a:t>
            </a:r>
            <a:r>
              <a:rPr lang="en-US" i="1" dirty="0">
                <a:latin typeface="Cambria" panose="02040503050406030204" pitchFamily="18" charset="0"/>
                <a:ea typeface="Cambria" panose="02040503050406030204" pitchFamily="18" charset="0"/>
              </a:rPr>
              <a:t>CLEF 2020 Labs and Workshops, Notebook Papers</a:t>
            </a:r>
            <a:r>
              <a:rPr lang="en-US" dirty="0">
                <a:latin typeface="Cambria" panose="02040503050406030204" pitchFamily="18" charset="0"/>
                <a:ea typeface="Cambria" panose="02040503050406030204" pitchFamily="18" charset="0"/>
              </a:rPr>
              <a:t>, September 2020. CEUR-WS.org.</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[11] Marjan </a:t>
            </a:r>
            <a:r>
              <a:rPr lang="en-US" dirty="0" err="1">
                <a:latin typeface="Cambria" panose="02040503050406030204" pitchFamily="18" charset="0"/>
                <a:ea typeface="Cambria" panose="02040503050406030204" pitchFamily="18" charset="0"/>
              </a:rPr>
              <a:t>Hosseinia</a:t>
            </a:r>
            <a:r>
              <a:rPr lang="en-US" dirty="0">
                <a:latin typeface="Cambria" panose="02040503050406030204" pitchFamily="18" charset="0"/>
                <a:ea typeface="Cambria" panose="02040503050406030204" pitchFamily="18" charset="0"/>
              </a:rPr>
              <a:t> and Arjun Mukherjee, A Parallel Hierarchical Attention Network for Style Change Detection—Notebook for PAN at CLEF 2018. In Linda </a:t>
            </a:r>
            <a:r>
              <a:rPr lang="en-US" dirty="0" err="1">
                <a:latin typeface="Cambria" panose="02040503050406030204" pitchFamily="18" charset="0"/>
                <a:ea typeface="Cambria" panose="02040503050406030204" pitchFamily="18" charset="0"/>
              </a:rPr>
              <a:t>Cappellato</a:t>
            </a:r>
            <a:r>
              <a:rPr lang="en-US" dirty="0">
                <a:latin typeface="Cambria" panose="02040503050406030204" pitchFamily="18" charset="0"/>
                <a:ea typeface="Cambria" panose="02040503050406030204" pitchFamily="18" charset="0"/>
              </a:rPr>
              <a:t>, Nicola Ferro, Jian-Yun Nie, and Laure Soulier, editors, </a:t>
            </a:r>
            <a:r>
              <a:rPr lang="en-US" i="1" dirty="0">
                <a:latin typeface="Cambria" panose="02040503050406030204" pitchFamily="18" charset="0"/>
                <a:ea typeface="Cambria" panose="02040503050406030204" pitchFamily="18" charset="0"/>
              </a:rPr>
              <a:t>CLEF 2018 Evaluation Labs and Workshop – Working Notes Papers, 10-14 September, Avignon, France</a:t>
            </a:r>
            <a:r>
              <a:rPr lang="en-US" dirty="0">
                <a:latin typeface="Cambria" panose="02040503050406030204" pitchFamily="18" charset="0"/>
                <a:ea typeface="Cambria" panose="02040503050406030204" pitchFamily="18" charset="0"/>
              </a:rPr>
              <a:t>, September 2018. CEUR-WS.org. </a:t>
            </a:r>
          </a:p>
          <a:p>
            <a:pPr marL="0"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01180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1161</TotalTime>
  <Words>2757</Words>
  <Application>Microsoft Office PowerPoint</Application>
  <PresentationFormat>Widescreen</PresentationFormat>
  <Paragraphs>223</Paragraphs>
  <Slides>20</Slides>
  <Notes>20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7" baseType="lpstr">
      <vt:lpstr>Arial</vt:lpstr>
      <vt:lpstr>Calibri</vt:lpstr>
      <vt:lpstr>Cambria</vt:lpstr>
      <vt:lpstr>Verdana</vt:lpstr>
      <vt:lpstr>Wingdings</vt:lpstr>
      <vt:lpstr>Bioinformatics</vt:lpstr>
      <vt:lpstr>Worksheet</vt:lpstr>
      <vt:lpstr>Student Innovation</vt:lpstr>
      <vt:lpstr>Content</vt:lpstr>
      <vt:lpstr>Problem Statement Number: PCS_154</vt:lpstr>
      <vt:lpstr>Problem Statement</vt:lpstr>
      <vt:lpstr>Abstract</vt:lpstr>
      <vt:lpstr>Literature Survey</vt:lpstr>
      <vt:lpstr>System Design</vt:lpstr>
      <vt:lpstr>System Design</vt:lpstr>
      <vt:lpstr>Architecture Diagram(for Alberta Model)</vt:lpstr>
      <vt:lpstr>Architecture Diagram(for Image)</vt:lpstr>
      <vt:lpstr>Algorithm</vt:lpstr>
      <vt:lpstr>Algorithm</vt:lpstr>
      <vt:lpstr>Modules</vt:lpstr>
      <vt:lpstr>Modules</vt:lpstr>
      <vt:lpstr>Modules</vt:lpstr>
      <vt:lpstr>Timeline of the Project (Gantt Chart)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Arya Abhishek</cp:lastModifiedBy>
  <cp:revision>45</cp:revision>
  <dcterms:modified xsi:type="dcterms:W3CDTF">2025-09-24T13:08:26Z</dcterms:modified>
</cp:coreProperties>
</file>